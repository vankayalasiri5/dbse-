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3.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035"/>
        </a:solidFill>
      </p:bgPr>
    </p:bg>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solidFill>
            <a:srgbClr val="6C2BD9">
              <a:alpha val="22000"/>
            </a:srgbClr>
          </a:solidFill>
          <a:ln/>
        </p:spPr>
      </p:sp>
      <p:sp>
        <p:nvSpPr>
          <p:cNvPr id="3" name="Shape 1"/>
          <p:cNvSpPr/>
          <p:nvPr/>
        </p:nvSpPr>
        <p:spPr>
          <a:xfrm>
            <a:off x="-1645920" y="4206240"/>
            <a:ext cx="4206240" cy="4206240"/>
          </a:xfrm>
          <a:prstGeom prst="ellipse">
            <a:avLst/>
          </a:prstGeom>
          <a:solidFill>
            <a:srgbClr val="FF3D68">
              <a:alpha val="18000"/>
            </a:srgbClr>
          </a:solidFill>
          <a:ln/>
        </p:spPr>
      </p:sp>
      <p:sp>
        <p:nvSpPr>
          <p:cNvPr id="4" name="Text 2"/>
          <p:cNvSpPr/>
          <p:nvPr/>
        </p:nvSpPr>
        <p:spPr>
          <a:xfrm>
            <a:off x="822960" y="731520"/>
            <a:ext cx="10515600" cy="365760"/>
          </a:xfrm>
          <a:prstGeom prst="rect">
            <a:avLst/>
          </a:prstGeom>
          <a:noFill/>
          <a:ln/>
        </p:spPr>
        <p:txBody>
          <a:bodyPr wrap="square" rtlCol="0" anchor="ctr"/>
          <a:lstStyle/>
          <a:p>
            <a:pPr indent="0" marL="0">
              <a:buNone/>
            </a:pPr>
            <a:r>
              <a:rPr lang="en-US" sz="1200" b="1" spc="200" kern="0" dirty="0">
                <a:solidFill>
                  <a:srgbClr val="C9B8F5"/>
                </a:solidFill>
                <a:latin typeface="Calibri" pitchFamily="34" charset="0"/>
                <a:ea typeface="Calibri" pitchFamily="34" charset="-122"/>
                <a:cs typeface="Calibri" pitchFamily="34" charset="-120"/>
              </a:rPr>
              <a:t>25CS1302E  ·  DATABASE SYSTEMS ENGINEERING &amp; DISTRIBUTED BACKEND DEVELOPMENT</a:t>
            </a:r>
            <a:endParaRPr lang="en-US" sz="1200" dirty="0"/>
          </a:p>
        </p:txBody>
      </p:sp>
      <p:sp>
        <p:nvSpPr>
          <p:cNvPr id="5" name="Shape 3"/>
          <p:cNvSpPr/>
          <p:nvPr/>
        </p:nvSpPr>
        <p:spPr>
          <a:xfrm>
            <a:off x="822960" y="1417320"/>
            <a:ext cx="822960" cy="822960"/>
          </a:xfrm>
          <a:prstGeom prst="ellipse">
            <a:avLst/>
          </a:prstGeom>
          <a:solidFill>
            <a:srgbClr val="6C2BD9"/>
          </a:solidFill>
          <a:ln/>
        </p:spPr>
      </p:sp>
      <p:pic>
        <p:nvPicPr>
          <p:cNvPr id="6" name="Image 0" descr="icons/film.png">    </p:cNvPr>
          <p:cNvPicPr>
            <a:picLocks noChangeAspect="1"/>
          </p:cNvPicPr>
          <p:nvPr/>
        </p:nvPicPr>
        <p:blipFill>
          <a:blip r:embed="rId1"/>
          <a:stretch>
            <a:fillRect/>
          </a:stretch>
        </p:blipFill>
        <p:spPr>
          <a:xfrm>
            <a:off x="946404" y="1540764"/>
            <a:ext cx="576072" cy="576072"/>
          </a:xfrm>
          <a:prstGeom prst="rect">
            <a:avLst/>
          </a:prstGeom>
        </p:spPr>
      </p:pic>
      <p:sp>
        <p:nvSpPr>
          <p:cNvPr id="7" name="Text 4"/>
          <p:cNvSpPr/>
          <p:nvPr/>
        </p:nvSpPr>
        <p:spPr>
          <a:xfrm>
            <a:off x="822960" y="2514600"/>
            <a:ext cx="9875520" cy="86868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Media &amp; Entertainment</a:t>
            </a:r>
            <a:endParaRPr lang="en-US" sz="4200" dirty="0"/>
          </a:p>
        </p:txBody>
      </p:sp>
      <p:sp>
        <p:nvSpPr>
          <p:cNvPr id="8" name="Text 5"/>
          <p:cNvSpPr/>
          <p:nvPr/>
        </p:nvSpPr>
        <p:spPr>
          <a:xfrm>
            <a:off x="822960" y="3246120"/>
            <a:ext cx="10058400" cy="86868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Mobile App for Subscriber </a:t>
            </a:r>
            <a:pPr indent="0" marL="0">
              <a:buNone/>
            </a:pPr>
            <a:r>
              <a:rPr lang="en-US" sz="4200" b="1" dirty="0">
                <a:solidFill>
                  <a:srgbClr val="FF3D68"/>
                </a:solidFill>
                <a:latin typeface="Cambria" pitchFamily="34" charset="0"/>
                <a:ea typeface="Cambria" pitchFamily="34" charset="-122"/>
                <a:cs typeface="Cambria" pitchFamily="34" charset="-120"/>
              </a:rPr>
              <a:t>Self-Service</a:t>
            </a:r>
            <a:endParaRPr lang="en-US" sz="4200" dirty="0"/>
          </a:p>
        </p:txBody>
      </p:sp>
      <p:sp>
        <p:nvSpPr>
          <p:cNvPr id="9" name="Text 6"/>
          <p:cNvSpPr/>
          <p:nvPr/>
        </p:nvSpPr>
        <p:spPr>
          <a:xfrm>
            <a:off x="822960" y="4160520"/>
            <a:ext cx="8778240" cy="640080"/>
          </a:xfrm>
          <a:prstGeom prst="rect">
            <a:avLst/>
          </a:prstGeom>
          <a:noFill/>
          <a:ln/>
        </p:spPr>
        <p:txBody>
          <a:bodyPr wrap="square" rtlCol="0" anchor="ctr"/>
          <a:lstStyle/>
          <a:p>
            <a:pPr indent="0" marL="0">
              <a:buNone/>
            </a:pPr>
            <a:r>
              <a:rPr lang="en-US" sz="1400" i="1" dirty="0">
                <a:solidFill>
                  <a:srgbClr val="D9CFF0"/>
                </a:solidFill>
                <a:latin typeface="Calibri" pitchFamily="34" charset="0"/>
                <a:ea typeface="Calibri" pitchFamily="34" charset="-122"/>
                <a:cs typeface="Calibri" pitchFamily="34" charset="-120"/>
              </a:rPr>
              <a:t>A database-driven mobile platform for managing subscriptions, payments, profiles and content — without depending on customer support.</a:t>
            </a:r>
            <a:endParaRPr lang="en-US" sz="1400" dirty="0"/>
          </a:p>
        </p:txBody>
      </p:sp>
      <p:sp>
        <p:nvSpPr>
          <p:cNvPr id="10" name="Shape 7"/>
          <p:cNvSpPr/>
          <p:nvPr/>
        </p:nvSpPr>
        <p:spPr>
          <a:xfrm>
            <a:off x="822960" y="5074920"/>
            <a:ext cx="7498080" cy="1234440"/>
          </a:xfrm>
          <a:prstGeom prst="roundRect">
            <a:avLst>
              <a:gd name="adj" fmla="val 8889"/>
            </a:avLst>
          </a:prstGeom>
          <a:solidFill>
            <a:srgbClr val="FFFFFF">
              <a:alpha val="6000"/>
            </a:srgbClr>
          </a:solidFill>
          <a:ln w="12700">
            <a:solidFill>
              <a:srgbClr val="6C2BD9"/>
            </a:solidFill>
            <a:prstDash val="solid"/>
          </a:ln>
        </p:spPr>
      </p:sp>
      <p:sp>
        <p:nvSpPr>
          <p:cNvPr id="11" name="Shape 8"/>
          <p:cNvSpPr/>
          <p:nvPr/>
        </p:nvSpPr>
        <p:spPr>
          <a:xfrm>
            <a:off x="1051560" y="5303520"/>
            <a:ext cx="777240" cy="777240"/>
          </a:xfrm>
          <a:prstGeom prst="ellipse">
            <a:avLst/>
          </a:prstGeom>
          <a:solidFill>
            <a:srgbClr val="FF3D68"/>
          </a:solidFill>
          <a:ln/>
        </p:spPr>
      </p:sp>
      <p:pic>
        <p:nvPicPr>
          <p:cNvPr id="12" name="Image 1" descr="icons/user.png">    </p:cNvPr>
          <p:cNvPicPr>
            <a:picLocks noChangeAspect="1"/>
          </p:cNvPicPr>
          <p:nvPr/>
        </p:nvPicPr>
        <p:blipFill>
          <a:blip r:embed="rId2"/>
          <a:stretch>
            <a:fillRect/>
          </a:stretch>
        </p:blipFill>
        <p:spPr>
          <a:xfrm>
            <a:off x="1152601" y="5404561"/>
            <a:ext cx="575158" cy="575158"/>
          </a:xfrm>
          <a:prstGeom prst="rect">
            <a:avLst/>
          </a:prstGeom>
        </p:spPr>
      </p:pic>
      <p:sp>
        <p:nvSpPr>
          <p:cNvPr id="13" name="Text 9"/>
          <p:cNvSpPr/>
          <p:nvPr/>
        </p:nvSpPr>
        <p:spPr>
          <a:xfrm>
            <a:off x="2011680" y="523036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SATWIKA GANDHE</a:t>
            </a:r>
            <a:endParaRPr lang="en-US" sz="1500" dirty="0"/>
          </a:p>
        </p:txBody>
      </p:sp>
      <p:sp>
        <p:nvSpPr>
          <p:cNvPr id="14" name="Text 10"/>
          <p:cNvSpPr/>
          <p:nvPr/>
        </p:nvSpPr>
        <p:spPr>
          <a:xfrm>
            <a:off x="2011680" y="5559552"/>
            <a:ext cx="3108960" cy="274320"/>
          </a:xfrm>
          <a:prstGeom prst="rect">
            <a:avLst/>
          </a:prstGeom>
          <a:noFill/>
          <a:ln/>
        </p:spPr>
        <p:txBody>
          <a:bodyPr wrap="square" rtlCol="0" anchor="ctr"/>
          <a:lstStyle/>
          <a:p>
            <a:pPr indent="0" marL="0">
              <a:buNone/>
            </a:pPr>
            <a:r>
              <a:rPr lang="en-US" sz="1100" dirty="0">
                <a:solidFill>
                  <a:srgbClr val="B9AFCF"/>
                </a:solidFill>
                <a:latin typeface="Calibri" pitchFamily="34" charset="0"/>
                <a:ea typeface="Calibri" pitchFamily="34" charset="-122"/>
                <a:cs typeface="Calibri" pitchFamily="34" charset="-120"/>
              </a:rPr>
              <a:t>Roll No. 2520090111</a:t>
            </a:r>
            <a:endParaRPr lang="en-US" sz="1100" dirty="0"/>
          </a:p>
        </p:txBody>
      </p:sp>
      <p:sp>
        <p:nvSpPr>
          <p:cNvPr id="15" name="Shape 11"/>
          <p:cNvSpPr/>
          <p:nvPr/>
        </p:nvSpPr>
        <p:spPr>
          <a:xfrm>
            <a:off x="4892040" y="5303520"/>
            <a:ext cx="777240" cy="777240"/>
          </a:xfrm>
          <a:prstGeom prst="ellipse">
            <a:avLst/>
          </a:prstGeom>
          <a:solidFill>
            <a:srgbClr val="6C2BD9"/>
          </a:solidFill>
          <a:ln/>
        </p:spPr>
      </p:sp>
      <p:pic>
        <p:nvPicPr>
          <p:cNvPr id="16" name="Image 2" descr="icons/user.png">    </p:cNvPr>
          <p:cNvPicPr>
            <a:picLocks noChangeAspect="1"/>
          </p:cNvPicPr>
          <p:nvPr/>
        </p:nvPicPr>
        <p:blipFill>
          <a:blip r:embed="rId3"/>
          <a:stretch>
            <a:fillRect/>
          </a:stretch>
        </p:blipFill>
        <p:spPr>
          <a:xfrm>
            <a:off x="4993081" y="5404561"/>
            <a:ext cx="575158" cy="575158"/>
          </a:xfrm>
          <a:prstGeom prst="rect">
            <a:avLst/>
          </a:prstGeom>
        </p:spPr>
      </p:pic>
      <p:sp>
        <p:nvSpPr>
          <p:cNvPr id="17" name="Text 12"/>
          <p:cNvSpPr/>
          <p:nvPr/>
        </p:nvSpPr>
        <p:spPr>
          <a:xfrm>
            <a:off x="5852160" y="523036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 SIRI CHANDANA</a:t>
            </a:r>
            <a:endParaRPr lang="en-US" sz="1500" dirty="0"/>
          </a:p>
        </p:txBody>
      </p:sp>
      <p:sp>
        <p:nvSpPr>
          <p:cNvPr id="18" name="Text 13"/>
          <p:cNvSpPr/>
          <p:nvPr/>
        </p:nvSpPr>
        <p:spPr>
          <a:xfrm>
            <a:off x="5852160" y="5559552"/>
            <a:ext cx="3108960" cy="274320"/>
          </a:xfrm>
          <a:prstGeom prst="rect">
            <a:avLst/>
          </a:prstGeom>
          <a:noFill/>
          <a:ln/>
        </p:spPr>
        <p:txBody>
          <a:bodyPr wrap="square" rtlCol="0" anchor="ctr"/>
          <a:lstStyle/>
          <a:p>
            <a:pPr indent="0" marL="0">
              <a:buNone/>
            </a:pPr>
            <a:r>
              <a:rPr lang="en-US" sz="1100" dirty="0">
                <a:solidFill>
                  <a:srgbClr val="B9AFCF"/>
                </a:solidFill>
                <a:latin typeface="Calibri" pitchFamily="34" charset="0"/>
                <a:ea typeface="Calibri" pitchFamily="34" charset="-122"/>
                <a:cs typeface="Calibri" pitchFamily="34" charset="-120"/>
              </a:rPr>
              <a:t>Roll No. 2520090198</a:t>
            </a:r>
            <a:endParaRPr lang="en-US" sz="1100" dirty="0"/>
          </a:p>
        </p:txBody>
      </p:sp>
      <p:sp>
        <p:nvSpPr>
          <p:cNvPr id="19" name="Text 14"/>
          <p:cNvSpPr/>
          <p:nvPr/>
        </p:nvSpPr>
        <p:spPr>
          <a:xfrm>
            <a:off x="822960" y="6446520"/>
            <a:ext cx="5486400" cy="274320"/>
          </a:xfrm>
          <a:prstGeom prst="rect">
            <a:avLst/>
          </a:prstGeom>
          <a:noFill/>
          <a:ln/>
        </p:spPr>
        <p:txBody>
          <a:bodyPr wrap="square" rtlCol="0" anchor="ctr"/>
          <a:lstStyle/>
          <a:p>
            <a:pPr indent="0" marL="0">
              <a:buNone/>
            </a:pPr>
            <a:r>
              <a:rPr lang="en-US" sz="1000" dirty="0">
                <a:solidFill>
                  <a:srgbClr val="9A8DC2"/>
                </a:solidFill>
                <a:latin typeface="Calibri" pitchFamily="34" charset="0"/>
                <a:ea typeface="Calibri" pitchFamily="34" charset="-122"/>
                <a:cs typeface="Calibri" pitchFamily="34" charset="-120"/>
              </a:rPr>
              <a:t>Section 10  ·  Y25 · 2026–2027 · Trimester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FC"/>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indent="0" marL="0">
              <a:buNone/>
            </a:pPr>
            <a:r>
              <a:rPr lang="en-US" sz="3200" b="1" dirty="0">
                <a:solidFill>
                  <a:srgbClr val="231830"/>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548640" y="1143000"/>
            <a:ext cx="502920" cy="82296"/>
          </a:xfrm>
          <a:prstGeom prst="roundRect">
            <a:avLst>
              <a:gd name="adj" fmla="val 44444"/>
            </a:avLst>
          </a:prstGeom>
          <a:solidFill>
            <a:srgbClr val="FF3D68"/>
          </a:solidFill>
          <a:ln/>
        </p:spPr>
        <p:txBody>
          <a:bodyPr/>
          <a:p/>
        </p:txBody>
      </p:sp>
      <p:sp>
        <p:nvSpPr>
          <p:cNvPr id="4" name="Text 2"/>
          <p:cNvSpPr/>
          <p:nvPr/>
        </p:nvSpPr>
        <p:spPr>
          <a:xfrm>
            <a:off x="548640" y="1554480"/>
            <a:ext cx="6126480" cy="2468880"/>
          </a:xfrm>
          <a:prstGeom prst="rect">
            <a:avLst/>
          </a:prstGeom>
          <a:noFill/>
          <a:ln/>
        </p:spPr>
        <p:txBody>
          <a:bodyPr wrap="square" rtlCol="0" anchor="ctr"/>
          <a:lstStyle/>
          <a:p>
            <a:pPr indent="0" marL="0">
              <a:lnSpc>
                <a:spcPct val="125000"/>
              </a:lnSpc>
              <a:buNone/>
              <a:defRPr sz="1600"/>
            </a:pPr>
            <a:r>
              <a:t>The Media &amp; Entertainment Mobile App for Subscriber Self-Service is a database-driven application that enables subscribers to independently manage profiles, subscription plans, payments, and entertainment content from one mobile platform. The backend database securely stores subscriber details, subscription records, payment transactions, content, viewing history, and user preferences. Database concepts such as relational tables, primary and foreign keys, normalization, SQL queries, transactions, and data integrity are used to ensure reliable and efficient data management. The application also supports personalized content recommendations and notifications for payments, subscription expiry, and new content, reducing dependence on customer support and improving the overall subscriber experience.</a:t>
            </a:r>
            <a:endParaRPr lang="en-US" sz="1500" dirty="0"/>
          </a:p>
        </p:txBody>
      </p:sp>
      <p:sp>
        <p:nvSpPr>
          <p:cNvPr id="5" name="Shape 3"/>
          <p:cNvSpPr/>
          <p:nvPr/>
        </p:nvSpPr>
        <p:spPr>
          <a:xfrm>
            <a:off x="548640" y="4251960"/>
            <a:ext cx="1920240" cy="1691640"/>
          </a:xfrm>
          <a:prstGeom prst="roundRect">
            <a:avLst>
              <a:gd name="adj" fmla="val 5405"/>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6" name="Shape 4"/>
          <p:cNvSpPr/>
          <p:nvPr/>
        </p:nvSpPr>
        <p:spPr>
          <a:xfrm>
            <a:off x="685800" y="4434840"/>
            <a:ext cx="548640" cy="548640"/>
          </a:xfrm>
          <a:prstGeom prst="ellipse">
            <a:avLst/>
          </a:prstGeom>
          <a:solidFill>
            <a:srgbClr val="6C2BD9"/>
          </a:solidFill>
          <a:ln/>
        </p:spPr>
      </p:sp>
      <p:pic>
        <p:nvPicPr>
          <p:cNvPr id="7" name="Image 0" descr="icons/database.png">    </p:cNvPr>
          <p:cNvPicPr>
            <a:picLocks noChangeAspect="1"/>
          </p:cNvPicPr>
          <p:nvPr/>
        </p:nvPicPr>
        <p:blipFill>
          <a:blip r:embed="rId1"/>
          <a:stretch>
            <a:fillRect/>
          </a:stretch>
        </p:blipFill>
        <p:spPr>
          <a:xfrm>
            <a:off x="762610" y="4511650"/>
            <a:ext cx="395021" cy="395021"/>
          </a:xfrm>
          <a:prstGeom prst="rect">
            <a:avLst/>
          </a:prstGeom>
        </p:spPr>
      </p:pic>
      <p:sp>
        <p:nvSpPr>
          <p:cNvPr id="8" name="Text 5"/>
          <p:cNvSpPr/>
          <p:nvPr/>
        </p:nvSpPr>
        <p:spPr>
          <a:xfrm>
            <a:off x="685800" y="5029200"/>
            <a:ext cx="1645920" cy="457200"/>
          </a:xfrm>
          <a:prstGeom prst="rect">
            <a:avLst/>
          </a:prstGeom>
          <a:noFill/>
          <a:ln/>
        </p:spPr>
        <p:txBody>
          <a:bodyPr wrap="square" rtlCol="0" anchor="ctr"/>
          <a:lstStyle/>
          <a:p>
            <a:pPr indent="0" marL="0">
              <a:buNone/>
            </a:pPr>
            <a:r>
              <a:rPr lang="en-US" sz="2200" b="1" dirty="0">
                <a:solidFill>
                  <a:srgbClr val="1B1035"/>
                </a:solidFill>
                <a:latin typeface="Cambria" pitchFamily="34" charset="0"/>
                <a:ea typeface="Cambria" pitchFamily="34" charset="-122"/>
                <a:cs typeface="Cambria" pitchFamily="34" charset="-120"/>
              </a:rPr>
              <a:t>6</a:t>
            </a:r>
            <a:endParaRPr lang="en-US" sz="2200" dirty="0"/>
          </a:p>
        </p:txBody>
      </p:sp>
      <p:sp>
        <p:nvSpPr>
          <p:cNvPr id="9" name="Text 6"/>
          <p:cNvSpPr/>
          <p:nvPr/>
        </p:nvSpPr>
        <p:spPr>
          <a:xfrm>
            <a:off x="685800" y="5468112"/>
            <a:ext cx="1737360" cy="457200"/>
          </a:xfrm>
          <a:prstGeom prst="rect">
            <a:avLst/>
          </a:prstGeom>
          <a:noFill/>
          <a:ln/>
        </p:spPr>
        <p:txBody>
          <a:bodyPr wrap="square" rtlCol="0" anchor="ctr"/>
          <a:lstStyle/>
          <a:p>
            <a:pPr indent="0" marL="0">
              <a:buNone/>
            </a:pPr>
            <a:r>
              <a:rPr lang="en-US" sz="1000" dirty="0">
                <a:solidFill>
                  <a:srgbClr val="6E6580"/>
                </a:solidFill>
                <a:latin typeface="Calibri" pitchFamily="34" charset="0"/>
                <a:ea typeface="Calibri" pitchFamily="34" charset="-122"/>
                <a:cs typeface="Calibri" pitchFamily="34" charset="-120"/>
              </a:rPr>
              <a:t>Core data</a:t>
            </a:r>
            <a:endParaRPr lang="en-US" sz="1000" dirty="0"/>
          </a:p>
          <a:p>
            <a:pPr indent="0" marL="0">
              <a:buNone/>
            </a:pPr>
            <a:r>
              <a:rPr lang="en-US" sz="1000" dirty="0">
                <a:solidFill>
                  <a:srgbClr val="6E6580"/>
                </a:solidFill>
                <a:latin typeface="Calibri" pitchFamily="34" charset="0"/>
                <a:ea typeface="Calibri" pitchFamily="34" charset="-122"/>
                <a:cs typeface="Calibri" pitchFamily="34" charset="-120"/>
              </a:rPr>
              <a:t>entities</a:t>
            </a:r>
            <a:endParaRPr lang="en-US" sz="1000" dirty="0"/>
          </a:p>
        </p:txBody>
      </p:sp>
      <p:sp>
        <p:nvSpPr>
          <p:cNvPr id="10" name="Shape 7"/>
          <p:cNvSpPr/>
          <p:nvPr/>
        </p:nvSpPr>
        <p:spPr>
          <a:xfrm>
            <a:off x="2651760" y="4251960"/>
            <a:ext cx="1920240" cy="1691640"/>
          </a:xfrm>
          <a:prstGeom prst="roundRect">
            <a:avLst>
              <a:gd name="adj" fmla="val 5405"/>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11" name="Shape 8"/>
          <p:cNvSpPr/>
          <p:nvPr/>
        </p:nvSpPr>
        <p:spPr>
          <a:xfrm>
            <a:off x="2788920" y="4434840"/>
            <a:ext cx="548640" cy="548640"/>
          </a:xfrm>
          <a:prstGeom prst="ellipse">
            <a:avLst/>
          </a:prstGeom>
          <a:solidFill>
            <a:srgbClr val="6C2BD9"/>
          </a:solidFill>
          <a:ln/>
        </p:spPr>
      </p:sp>
      <p:pic>
        <p:nvPicPr>
          <p:cNvPr id="12" name="Image 1" descr="icons/mobile.png">    </p:cNvPr>
          <p:cNvPicPr>
            <a:picLocks noChangeAspect="1"/>
          </p:cNvPicPr>
          <p:nvPr/>
        </p:nvPicPr>
        <p:blipFill>
          <a:blip r:embed="rId2"/>
          <a:stretch>
            <a:fillRect/>
          </a:stretch>
        </p:blipFill>
        <p:spPr>
          <a:xfrm>
            <a:off x="2865730" y="4511650"/>
            <a:ext cx="395021" cy="395021"/>
          </a:xfrm>
          <a:prstGeom prst="rect">
            <a:avLst/>
          </a:prstGeom>
        </p:spPr>
      </p:pic>
      <p:sp>
        <p:nvSpPr>
          <p:cNvPr id="13" name="Text 9"/>
          <p:cNvSpPr/>
          <p:nvPr/>
        </p:nvSpPr>
        <p:spPr>
          <a:xfrm>
            <a:off x="2788920" y="5029200"/>
            <a:ext cx="1645920" cy="457200"/>
          </a:xfrm>
          <a:prstGeom prst="rect">
            <a:avLst/>
          </a:prstGeom>
          <a:noFill/>
          <a:ln/>
        </p:spPr>
        <p:txBody>
          <a:bodyPr wrap="square" rtlCol="0" anchor="ctr"/>
          <a:lstStyle/>
          <a:p>
            <a:pPr indent="0" marL="0">
              <a:buNone/>
            </a:pPr>
            <a:r>
              <a:rPr lang="en-US" sz="2200" b="1" dirty="0">
                <a:solidFill>
                  <a:srgbClr val="1B1035"/>
                </a:solidFill>
                <a:latin typeface="Cambria" pitchFamily="34" charset="0"/>
                <a:ea typeface="Cambria" pitchFamily="34" charset="-122"/>
                <a:cs typeface="Cambria" pitchFamily="34" charset="-120"/>
              </a:rPr>
              <a:t>1</a:t>
            </a:r>
            <a:endParaRPr lang="en-US" sz="2200" dirty="0"/>
          </a:p>
        </p:txBody>
      </p:sp>
      <p:sp>
        <p:nvSpPr>
          <p:cNvPr id="14" name="Text 10"/>
          <p:cNvSpPr/>
          <p:nvPr/>
        </p:nvSpPr>
        <p:spPr>
          <a:xfrm>
            <a:off x="2788920" y="5468112"/>
            <a:ext cx="1737360" cy="457200"/>
          </a:xfrm>
          <a:prstGeom prst="rect">
            <a:avLst/>
          </a:prstGeom>
          <a:noFill/>
          <a:ln/>
        </p:spPr>
        <p:txBody>
          <a:bodyPr wrap="square" rtlCol="0" anchor="ctr"/>
          <a:lstStyle/>
          <a:p>
            <a:pPr indent="0" marL="0">
              <a:buNone/>
            </a:pPr>
            <a:r>
              <a:rPr lang="en-US" sz="1000" dirty="0">
                <a:solidFill>
                  <a:srgbClr val="6E6580"/>
                </a:solidFill>
                <a:latin typeface="Calibri" pitchFamily="34" charset="0"/>
                <a:ea typeface="Calibri" pitchFamily="34" charset="-122"/>
                <a:cs typeface="Calibri" pitchFamily="34" charset="-120"/>
              </a:rPr>
              <a:t>Unified</a:t>
            </a:r>
            <a:endParaRPr lang="en-US" sz="1000" dirty="0"/>
          </a:p>
          <a:p>
            <a:pPr indent="0" marL="0">
              <a:buNone/>
            </a:pPr>
            <a:r>
              <a:rPr lang="en-US" sz="1000" dirty="0">
                <a:solidFill>
                  <a:srgbClr val="6E6580"/>
                </a:solidFill>
                <a:latin typeface="Calibri" pitchFamily="34" charset="0"/>
                <a:ea typeface="Calibri" pitchFamily="34" charset="-122"/>
                <a:cs typeface="Calibri" pitchFamily="34" charset="-120"/>
              </a:rPr>
              <a:t>mobile app</a:t>
            </a:r>
            <a:endParaRPr lang="en-US" sz="1000" dirty="0"/>
          </a:p>
        </p:txBody>
      </p:sp>
      <p:sp>
        <p:nvSpPr>
          <p:cNvPr id="15" name="Shape 11"/>
          <p:cNvSpPr/>
          <p:nvPr/>
        </p:nvSpPr>
        <p:spPr>
          <a:xfrm>
            <a:off x="4754880" y="4251960"/>
            <a:ext cx="1920240" cy="1691640"/>
          </a:xfrm>
          <a:prstGeom prst="roundRect">
            <a:avLst>
              <a:gd name="adj" fmla="val 5405"/>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16" name="Shape 12"/>
          <p:cNvSpPr/>
          <p:nvPr/>
        </p:nvSpPr>
        <p:spPr>
          <a:xfrm>
            <a:off x="4892040" y="4434840"/>
            <a:ext cx="548640" cy="548640"/>
          </a:xfrm>
          <a:prstGeom prst="ellipse">
            <a:avLst/>
          </a:prstGeom>
          <a:solidFill>
            <a:srgbClr val="6C2BD9"/>
          </a:solidFill>
          <a:ln/>
        </p:spPr>
      </p:sp>
      <p:pic>
        <p:nvPicPr>
          <p:cNvPr id="17" name="Image 2" descr="icons/bell.png">    </p:cNvPr>
          <p:cNvPicPr>
            <a:picLocks noChangeAspect="1"/>
          </p:cNvPicPr>
          <p:nvPr/>
        </p:nvPicPr>
        <p:blipFill>
          <a:blip r:embed="rId3"/>
          <a:stretch>
            <a:fillRect/>
          </a:stretch>
        </p:blipFill>
        <p:spPr>
          <a:xfrm>
            <a:off x="4968850" y="4511650"/>
            <a:ext cx="395021" cy="395021"/>
          </a:xfrm>
          <a:prstGeom prst="rect">
            <a:avLst/>
          </a:prstGeom>
        </p:spPr>
      </p:pic>
      <p:sp>
        <p:nvSpPr>
          <p:cNvPr id="18" name="Text 13"/>
          <p:cNvSpPr/>
          <p:nvPr/>
        </p:nvSpPr>
        <p:spPr>
          <a:xfrm>
            <a:off x="4892040" y="5029200"/>
            <a:ext cx="1645920" cy="457200"/>
          </a:xfrm>
          <a:prstGeom prst="rect">
            <a:avLst/>
          </a:prstGeom>
          <a:noFill/>
          <a:ln/>
        </p:spPr>
        <p:txBody>
          <a:bodyPr wrap="square" rtlCol="0" anchor="ctr"/>
          <a:lstStyle/>
          <a:p>
            <a:pPr indent="0" marL="0">
              <a:buNone/>
            </a:pPr>
            <a:r>
              <a:rPr lang="en-US" sz="2200" b="1" dirty="0">
                <a:solidFill>
                  <a:srgbClr val="1B1035"/>
                </a:solidFill>
                <a:latin typeface="Cambria" pitchFamily="34" charset="0"/>
                <a:ea typeface="Cambria" pitchFamily="34" charset="-122"/>
                <a:cs typeface="Cambria" pitchFamily="34" charset="-120"/>
              </a:rPr>
              <a:t>24/7</a:t>
            </a:r>
            <a:endParaRPr lang="en-US" sz="2200" dirty="0"/>
          </a:p>
        </p:txBody>
      </p:sp>
      <p:sp>
        <p:nvSpPr>
          <p:cNvPr id="19" name="Text 14"/>
          <p:cNvSpPr/>
          <p:nvPr/>
        </p:nvSpPr>
        <p:spPr>
          <a:xfrm>
            <a:off x="4892040" y="5468112"/>
            <a:ext cx="1737360" cy="457200"/>
          </a:xfrm>
          <a:prstGeom prst="rect">
            <a:avLst/>
          </a:prstGeom>
          <a:noFill/>
          <a:ln/>
        </p:spPr>
        <p:txBody>
          <a:bodyPr wrap="square" rtlCol="0" anchor="ctr"/>
          <a:lstStyle/>
          <a:p>
            <a:pPr indent="0" marL="0">
              <a:buNone/>
            </a:pPr>
            <a:r>
              <a:rPr lang="en-US" sz="1000" dirty="0">
                <a:solidFill>
                  <a:srgbClr val="6E6580"/>
                </a:solidFill>
                <a:latin typeface="Calibri" pitchFamily="34" charset="0"/>
                <a:ea typeface="Calibri" pitchFamily="34" charset="-122"/>
                <a:cs typeface="Calibri" pitchFamily="34" charset="-120"/>
              </a:rPr>
              <a:t>Self-service</a:t>
            </a:r>
            <a:endParaRPr lang="en-US" sz="1000" dirty="0"/>
          </a:p>
          <a:p>
            <a:pPr indent="0" marL="0">
              <a:buNone/>
            </a:pPr>
            <a:r>
              <a:rPr lang="en-US" sz="1000" dirty="0">
                <a:solidFill>
                  <a:srgbClr val="6E6580"/>
                </a:solidFill>
                <a:latin typeface="Calibri" pitchFamily="34" charset="0"/>
                <a:ea typeface="Calibri" pitchFamily="34" charset="-122"/>
                <a:cs typeface="Calibri" pitchFamily="34" charset="-120"/>
              </a:rPr>
              <a:t>access</a:t>
            </a:r>
            <a:endParaRPr lang="en-US" sz="1000" dirty="0"/>
          </a:p>
        </p:txBody>
      </p:sp>
      <p:sp>
        <p:nvSpPr>
          <p:cNvPr id="20" name="Shape 15"/>
          <p:cNvSpPr/>
          <p:nvPr/>
        </p:nvSpPr>
        <p:spPr>
          <a:xfrm>
            <a:off x="7315200" y="1371600"/>
            <a:ext cx="4343400" cy="4846320"/>
          </a:xfrm>
          <a:prstGeom prst="roundRect">
            <a:avLst>
              <a:gd name="adj" fmla="val 3789"/>
            </a:avLst>
          </a:prstGeom>
          <a:solidFill>
            <a:srgbClr val="1B1035"/>
          </a:solidFill>
          <a:ln/>
          <a:effectLst>
            <a:outerShdw sx="100000" sy="100000" kx="0" ky="0" algn="bl" rotWithShape="0" blurRad="177800" dist="50800" dir="5400000">
              <a:srgbClr val="1B1035">
                <a:alpha val="30000"/>
              </a:srgbClr>
            </a:outerShdw>
          </a:effectLst>
        </p:spPr>
      </p:sp>
      <p:sp>
        <p:nvSpPr>
          <p:cNvPr id="21" name="Text 16"/>
          <p:cNvSpPr/>
          <p:nvPr/>
        </p:nvSpPr>
        <p:spPr>
          <a:xfrm>
            <a:off x="7635240" y="1645920"/>
            <a:ext cx="3749040" cy="320040"/>
          </a:xfrm>
          <a:prstGeom prst="rect">
            <a:avLst/>
          </a:prstGeom>
          <a:noFill/>
          <a:ln/>
        </p:spPr>
        <p:txBody>
          <a:bodyPr wrap="square" rtlCol="0" anchor="ctr"/>
          <a:lstStyle/>
          <a:p>
            <a:pPr indent="0" marL="0">
              <a:buNone/>
            </a:pPr>
            <a:r>
              <a:rPr lang="en-US" sz="1100" b="1" spc="150" kern="0" dirty="0">
                <a:solidFill>
                  <a:srgbClr val="C9B8F5"/>
                </a:solidFill>
                <a:latin typeface="Calibri" pitchFamily="34" charset="0"/>
                <a:ea typeface="Calibri" pitchFamily="34" charset="-122"/>
                <a:cs typeface="Calibri" pitchFamily="34" charset="-120"/>
              </a:rPr>
              <a:t>BACKEND SECURELY STORES</a:t>
            </a:r>
            <a:endParaRPr lang="en-US" sz="1100" dirty="0"/>
          </a:p>
        </p:txBody>
      </p:sp>
      <p:sp>
        <p:nvSpPr>
          <p:cNvPr id="22" name="Shape 17"/>
          <p:cNvSpPr/>
          <p:nvPr/>
        </p:nvSpPr>
        <p:spPr>
          <a:xfrm>
            <a:off x="7635240" y="2148840"/>
            <a:ext cx="502920" cy="502920"/>
          </a:xfrm>
          <a:prstGeom prst="ellipse">
            <a:avLst/>
          </a:prstGeom>
          <a:solidFill>
            <a:srgbClr val="FF3D68"/>
          </a:solidFill>
          <a:ln/>
        </p:spPr>
      </p:sp>
      <p:pic>
        <p:nvPicPr>
          <p:cNvPr id="23" name="Image 3" descr="icons/user.png">    </p:cNvPr>
          <p:cNvPicPr>
            <a:picLocks noChangeAspect="1"/>
          </p:cNvPicPr>
          <p:nvPr/>
        </p:nvPicPr>
        <p:blipFill>
          <a:blip r:embed="rId4"/>
          <a:stretch>
            <a:fillRect/>
          </a:stretch>
        </p:blipFill>
        <p:spPr>
          <a:xfrm>
            <a:off x="7705649" y="2219249"/>
            <a:ext cx="362102" cy="362102"/>
          </a:xfrm>
          <a:prstGeom prst="rect">
            <a:avLst/>
          </a:prstGeom>
        </p:spPr>
      </p:pic>
      <p:sp>
        <p:nvSpPr>
          <p:cNvPr id="24" name="Text 18"/>
          <p:cNvSpPr/>
          <p:nvPr/>
        </p:nvSpPr>
        <p:spPr>
          <a:xfrm>
            <a:off x="8321040" y="2203704"/>
            <a:ext cx="31089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Subscriber profiles</a:t>
            </a:r>
            <a:endParaRPr lang="en-US" sz="1300" dirty="0"/>
          </a:p>
        </p:txBody>
      </p:sp>
      <p:sp>
        <p:nvSpPr>
          <p:cNvPr id="25" name="Shape 19"/>
          <p:cNvSpPr/>
          <p:nvPr/>
        </p:nvSpPr>
        <p:spPr>
          <a:xfrm>
            <a:off x="7635240" y="2898648"/>
            <a:ext cx="502920" cy="502920"/>
          </a:xfrm>
          <a:prstGeom prst="ellipse">
            <a:avLst/>
          </a:prstGeom>
          <a:solidFill>
            <a:srgbClr val="FF3D68"/>
          </a:solidFill>
          <a:ln/>
        </p:spPr>
      </p:sp>
      <p:pic>
        <p:nvPicPr>
          <p:cNvPr id="26" name="Image 4" descr="icons/database.png">    </p:cNvPr>
          <p:cNvPicPr>
            <a:picLocks noChangeAspect="1"/>
          </p:cNvPicPr>
          <p:nvPr/>
        </p:nvPicPr>
        <p:blipFill>
          <a:blip r:embed="rId5"/>
          <a:stretch>
            <a:fillRect/>
          </a:stretch>
        </p:blipFill>
        <p:spPr>
          <a:xfrm>
            <a:off x="7705649" y="2969057"/>
            <a:ext cx="362102" cy="362102"/>
          </a:xfrm>
          <a:prstGeom prst="rect">
            <a:avLst/>
          </a:prstGeom>
        </p:spPr>
      </p:pic>
      <p:sp>
        <p:nvSpPr>
          <p:cNvPr id="27" name="Text 20"/>
          <p:cNvSpPr/>
          <p:nvPr/>
        </p:nvSpPr>
        <p:spPr>
          <a:xfrm>
            <a:off x="8321040" y="2953512"/>
            <a:ext cx="31089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Subscription plans</a:t>
            </a:r>
            <a:endParaRPr lang="en-US" sz="1300" dirty="0"/>
          </a:p>
        </p:txBody>
      </p:sp>
      <p:sp>
        <p:nvSpPr>
          <p:cNvPr id="28" name="Shape 21"/>
          <p:cNvSpPr/>
          <p:nvPr/>
        </p:nvSpPr>
        <p:spPr>
          <a:xfrm>
            <a:off x="7635240" y="3648456"/>
            <a:ext cx="502920" cy="502920"/>
          </a:xfrm>
          <a:prstGeom prst="ellipse">
            <a:avLst/>
          </a:prstGeom>
          <a:solidFill>
            <a:srgbClr val="FF3D68"/>
          </a:solidFill>
          <a:ln/>
        </p:spPr>
      </p:sp>
      <p:pic>
        <p:nvPicPr>
          <p:cNvPr id="29" name="Image 5" descr="icons/card.png">    </p:cNvPr>
          <p:cNvPicPr>
            <a:picLocks noChangeAspect="1"/>
          </p:cNvPicPr>
          <p:nvPr/>
        </p:nvPicPr>
        <p:blipFill>
          <a:blip r:embed="rId6"/>
          <a:stretch>
            <a:fillRect/>
          </a:stretch>
        </p:blipFill>
        <p:spPr>
          <a:xfrm>
            <a:off x="7705649" y="3718865"/>
            <a:ext cx="362102" cy="362102"/>
          </a:xfrm>
          <a:prstGeom prst="rect">
            <a:avLst/>
          </a:prstGeom>
        </p:spPr>
      </p:pic>
      <p:sp>
        <p:nvSpPr>
          <p:cNvPr id="30" name="Text 22"/>
          <p:cNvSpPr/>
          <p:nvPr/>
        </p:nvSpPr>
        <p:spPr>
          <a:xfrm>
            <a:off x="8321040" y="3703320"/>
            <a:ext cx="31089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Payment transactions</a:t>
            </a:r>
            <a:endParaRPr lang="en-US" sz="1300" dirty="0"/>
          </a:p>
        </p:txBody>
      </p:sp>
      <p:sp>
        <p:nvSpPr>
          <p:cNvPr id="31" name="Shape 23"/>
          <p:cNvSpPr/>
          <p:nvPr/>
        </p:nvSpPr>
        <p:spPr>
          <a:xfrm>
            <a:off x="7635240" y="4398264"/>
            <a:ext cx="502920" cy="502920"/>
          </a:xfrm>
          <a:prstGeom prst="ellipse">
            <a:avLst/>
          </a:prstGeom>
          <a:solidFill>
            <a:srgbClr val="FF3D68"/>
          </a:solidFill>
          <a:ln/>
        </p:spPr>
      </p:sp>
      <p:pic>
        <p:nvPicPr>
          <p:cNvPr id="32" name="Image 6" descr="icons/film.png">    </p:cNvPr>
          <p:cNvPicPr>
            <a:picLocks noChangeAspect="1"/>
          </p:cNvPicPr>
          <p:nvPr/>
        </p:nvPicPr>
        <p:blipFill>
          <a:blip r:embed="rId7"/>
          <a:stretch>
            <a:fillRect/>
          </a:stretch>
        </p:blipFill>
        <p:spPr>
          <a:xfrm>
            <a:off x="7705649" y="4468673"/>
            <a:ext cx="362102" cy="362102"/>
          </a:xfrm>
          <a:prstGeom prst="rect">
            <a:avLst/>
          </a:prstGeom>
        </p:spPr>
      </p:pic>
      <p:sp>
        <p:nvSpPr>
          <p:cNvPr id="33" name="Text 24"/>
          <p:cNvSpPr/>
          <p:nvPr/>
        </p:nvSpPr>
        <p:spPr>
          <a:xfrm>
            <a:off x="8321040" y="4453128"/>
            <a:ext cx="31089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Content &amp; viewing history</a:t>
            </a:r>
            <a:endParaRPr lang="en-US" sz="1300" dirty="0"/>
          </a:p>
        </p:txBody>
      </p:sp>
      <p:sp>
        <p:nvSpPr>
          <p:cNvPr id="34" name="Shape 25"/>
          <p:cNvSpPr/>
          <p:nvPr/>
        </p:nvSpPr>
        <p:spPr>
          <a:xfrm>
            <a:off x="7635240" y="5148072"/>
            <a:ext cx="502920" cy="502920"/>
          </a:xfrm>
          <a:prstGeom prst="ellipse">
            <a:avLst/>
          </a:prstGeom>
          <a:solidFill>
            <a:srgbClr val="FF3D68"/>
          </a:solidFill>
          <a:ln/>
        </p:spPr>
      </p:sp>
      <p:pic>
        <p:nvPicPr>
          <p:cNvPr id="35" name="Image 7" descr="icons/bell.png">    </p:cNvPr>
          <p:cNvPicPr>
            <a:picLocks noChangeAspect="1"/>
          </p:cNvPicPr>
          <p:nvPr/>
        </p:nvPicPr>
        <p:blipFill>
          <a:blip r:embed="rId8"/>
          <a:stretch>
            <a:fillRect/>
          </a:stretch>
        </p:blipFill>
        <p:spPr>
          <a:xfrm>
            <a:off x="7705649" y="5218481"/>
            <a:ext cx="362102" cy="362102"/>
          </a:xfrm>
          <a:prstGeom prst="rect">
            <a:avLst/>
          </a:prstGeom>
        </p:spPr>
      </p:pic>
      <p:sp>
        <p:nvSpPr>
          <p:cNvPr id="36" name="Text 26"/>
          <p:cNvSpPr/>
          <p:nvPr/>
        </p:nvSpPr>
        <p:spPr>
          <a:xfrm>
            <a:off x="8321040" y="5202936"/>
            <a:ext cx="31089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Preferences &amp; notifications</a:t>
            </a:r>
            <a:endParaRPr lang="en-US" sz="1300" dirty="0"/>
          </a:p>
        </p:txBody>
      </p:sp>
      <p:sp>
        <p:nvSpPr>
          <p:cNvPr id="37" name="Text 2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6580"/>
                </a:solidFill>
                <a:latin typeface="Calibri" pitchFamily="34" charset="0"/>
                <a:ea typeface="Calibri" pitchFamily="34" charset="-122"/>
                <a:cs typeface="Calibri" pitchFamily="34" charset="-120"/>
              </a:rPr>
              <a:t>2</a:t>
            </a:r>
            <a:endParaRPr lang="en-US" sz="1000" dirty="0"/>
          </a:p>
        </p:txBody>
      </p:sp>
      <p:sp>
        <p:nvSpPr>
          <p:cNvPr id="38" name="Text 28"/>
          <p:cNvSpPr/>
          <p:nvPr/>
        </p:nvSpPr>
        <p:spPr>
          <a:xfrm>
            <a:off x="457200" y="6400800"/>
            <a:ext cx="7315200" cy="274320"/>
          </a:xfrm>
          <a:prstGeom prst="rect">
            <a:avLst/>
          </a:prstGeom>
          <a:noFill/>
          <a:ln/>
        </p:spPr>
        <p:txBody>
          <a:bodyPr wrap="square" rtlCol="0" anchor="ctr"/>
          <a:lstStyle/>
          <a:p>
            <a:pPr algn="l" indent="0" marL="0">
              <a:buNone/>
            </a:pPr>
            <a:r>
              <a:rPr lang="en-US" sz="900" dirty="0">
                <a:solidFill>
                  <a:srgbClr val="B9AFCF"/>
                </a:solidFill>
                <a:latin typeface="Calibri" pitchFamily="34" charset="0"/>
                <a:ea typeface="Calibri" pitchFamily="34" charset="-122"/>
                <a:cs typeface="Calibri" pitchFamily="34" charset="-120"/>
              </a:rPr>
              <a:t>Media &amp; Entertainment Subscriber Self-Service App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FC"/>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indent="0" marL="0">
              <a:buNone/>
            </a:pPr>
            <a:r>
              <a:rPr lang="en-US" sz="3200" b="1" dirty="0">
                <a:solidFill>
                  <a:srgbClr val="231830"/>
                </a:solidFill>
                <a:latin typeface="Cambria" pitchFamily="34" charset="0"/>
                <a:ea typeface="Cambria" pitchFamily="34" charset="-122"/>
                <a:cs typeface="Cambria" pitchFamily="34" charset="-120"/>
              </a:rPr>
              <a:t>The Solution</a:t>
            </a:r>
            <a:endParaRPr lang="en-US" sz="3200" dirty="0"/>
          </a:p>
        </p:txBody>
      </p:sp>
      <p:sp>
        <p:nvSpPr>
          <p:cNvPr id="3" name="Shape 1"/>
          <p:cNvSpPr/>
          <p:nvPr/>
        </p:nvSpPr>
        <p:spPr>
          <a:xfrm>
            <a:off x="548640" y="1143000"/>
            <a:ext cx="502920" cy="82296"/>
          </a:xfrm>
          <a:prstGeom prst="roundRect">
            <a:avLst>
              <a:gd name="adj" fmla="val 44444"/>
            </a:avLst>
          </a:prstGeom>
          <a:solidFill>
            <a:srgbClr val="FF3D68"/>
          </a:solidFill>
          <a:ln/>
        </p:spPr>
      </p:sp>
      <p:sp>
        <p:nvSpPr>
          <p:cNvPr id="4" name="Text 2"/>
          <p:cNvSpPr/>
          <p:nvPr/>
        </p:nvSpPr>
        <p:spPr>
          <a:xfrm>
            <a:off x="548640" y="1280160"/>
            <a:ext cx="10515600" cy="411480"/>
          </a:xfrm>
          <a:prstGeom prst="rect">
            <a:avLst/>
          </a:prstGeom>
          <a:noFill/>
          <a:ln/>
        </p:spPr>
        <p:txBody>
          <a:bodyPr wrap="square" rtlCol="0" anchor="ctr"/>
          <a:lstStyle/>
          <a:p>
            <a:pPr indent="0" marL="0">
              <a:buNone/>
            </a:pPr>
            <a:r>
              <a:rPr lang="en-US" sz="1300" i="1" dirty="0">
                <a:solidFill>
                  <a:srgbClr val="6E6580"/>
                </a:solidFill>
                <a:latin typeface="Calibri" pitchFamily="34" charset="0"/>
                <a:ea typeface="Calibri" pitchFamily="34" charset="-122"/>
                <a:cs typeface="Calibri" pitchFamily="34" charset="-120"/>
              </a:rPr>
              <a:t>One mobile app, backed by one reliable database, replacing scattered manual support requests.</a:t>
            </a:r>
            <a:endParaRPr lang="en-US" sz="1300" dirty="0"/>
          </a:p>
        </p:txBody>
      </p:sp>
      <p:sp>
        <p:nvSpPr>
          <p:cNvPr id="5" name="Shape 3"/>
          <p:cNvSpPr/>
          <p:nvPr/>
        </p:nvSpPr>
        <p:spPr>
          <a:xfrm>
            <a:off x="548640" y="3246120"/>
            <a:ext cx="2331720" cy="1737360"/>
          </a:xfrm>
          <a:prstGeom prst="roundRect">
            <a:avLst>
              <a:gd name="adj" fmla="val 6316"/>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6" name="Shape 4"/>
          <p:cNvSpPr/>
          <p:nvPr/>
        </p:nvSpPr>
        <p:spPr>
          <a:xfrm>
            <a:off x="1348740" y="3474720"/>
            <a:ext cx="731520" cy="731520"/>
          </a:xfrm>
          <a:prstGeom prst="ellipse">
            <a:avLst/>
          </a:prstGeom>
          <a:solidFill>
            <a:srgbClr val="6C2BD9"/>
          </a:solidFill>
          <a:ln/>
        </p:spPr>
      </p:sp>
      <p:pic>
        <p:nvPicPr>
          <p:cNvPr id="7" name="Image 0" descr="icons/user.png">    </p:cNvPr>
          <p:cNvPicPr>
            <a:picLocks noChangeAspect="1"/>
          </p:cNvPicPr>
          <p:nvPr/>
        </p:nvPicPr>
        <p:blipFill>
          <a:blip r:embed="rId1"/>
          <a:stretch>
            <a:fillRect/>
          </a:stretch>
        </p:blipFill>
        <p:spPr>
          <a:xfrm>
            <a:off x="1451153" y="3577133"/>
            <a:ext cx="526694" cy="526694"/>
          </a:xfrm>
          <a:prstGeom prst="rect">
            <a:avLst/>
          </a:prstGeom>
        </p:spPr>
      </p:pic>
      <p:sp>
        <p:nvSpPr>
          <p:cNvPr id="8" name="Text 5"/>
          <p:cNvSpPr/>
          <p:nvPr/>
        </p:nvSpPr>
        <p:spPr>
          <a:xfrm>
            <a:off x="548640" y="4297680"/>
            <a:ext cx="2331720" cy="320040"/>
          </a:xfrm>
          <a:prstGeom prst="rect">
            <a:avLst/>
          </a:prstGeom>
          <a:noFill/>
          <a:ln/>
        </p:spPr>
        <p:txBody>
          <a:bodyPr wrap="square" rtlCol="0" anchor="ctr"/>
          <a:lstStyle/>
          <a:p>
            <a:pPr algn="ctr" indent="0" marL="0">
              <a:buNone/>
            </a:pPr>
            <a:r>
              <a:rPr lang="en-US" sz="1400" b="1" dirty="0">
                <a:solidFill>
                  <a:srgbClr val="231830"/>
                </a:solidFill>
                <a:latin typeface="Calibri" pitchFamily="34" charset="0"/>
                <a:ea typeface="Calibri" pitchFamily="34" charset="-122"/>
                <a:cs typeface="Calibri" pitchFamily="34" charset="-120"/>
              </a:rPr>
              <a:t>Subscriber</a:t>
            </a:r>
            <a:endParaRPr lang="en-US" sz="1400" dirty="0"/>
          </a:p>
        </p:txBody>
      </p:sp>
      <p:sp>
        <p:nvSpPr>
          <p:cNvPr id="9" name="Text 6"/>
          <p:cNvSpPr/>
          <p:nvPr/>
        </p:nvSpPr>
        <p:spPr>
          <a:xfrm>
            <a:off x="640080" y="4617720"/>
            <a:ext cx="2148840" cy="365760"/>
          </a:xfrm>
          <a:prstGeom prst="rect">
            <a:avLst/>
          </a:prstGeom>
          <a:noFill/>
          <a:ln/>
        </p:spPr>
        <p:txBody>
          <a:bodyPr wrap="square" rtlCol="0" anchor="ctr"/>
          <a:lstStyle/>
          <a:p>
            <a:pPr algn="ctr" indent="0" marL="0">
              <a:buNone/>
            </a:pPr>
            <a:r>
              <a:rPr lang="en-US" sz="950" dirty="0">
                <a:solidFill>
                  <a:srgbClr val="6E6580"/>
                </a:solidFill>
                <a:latin typeface="Calibri" pitchFamily="34" charset="0"/>
                <a:ea typeface="Calibri" pitchFamily="34" charset="-122"/>
                <a:cs typeface="Calibri" pitchFamily="34" charset="-120"/>
              </a:rPr>
              <a:t>Opens the app</a:t>
            </a:r>
            <a:endParaRPr lang="en-US" sz="950" dirty="0"/>
          </a:p>
        </p:txBody>
      </p:sp>
      <p:sp>
        <p:nvSpPr>
          <p:cNvPr id="10" name="Shape 7"/>
          <p:cNvSpPr/>
          <p:nvPr/>
        </p:nvSpPr>
        <p:spPr>
          <a:xfrm>
            <a:off x="2907792" y="3995928"/>
            <a:ext cx="457200" cy="237744"/>
          </a:xfrm>
          <a:prstGeom prst="rightArrow">
            <a:avLst/>
          </a:prstGeom>
          <a:solidFill>
            <a:srgbClr val="C9B8F5"/>
          </a:solidFill>
          <a:ln/>
        </p:spPr>
      </p:sp>
      <p:sp>
        <p:nvSpPr>
          <p:cNvPr id="11" name="Shape 8"/>
          <p:cNvSpPr/>
          <p:nvPr/>
        </p:nvSpPr>
        <p:spPr>
          <a:xfrm>
            <a:off x="3429000" y="3246120"/>
            <a:ext cx="2331720" cy="1737360"/>
          </a:xfrm>
          <a:prstGeom prst="roundRect">
            <a:avLst>
              <a:gd name="adj" fmla="val 6316"/>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12" name="Shape 9"/>
          <p:cNvSpPr/>
          <p:nvPr/>
        </p:nvSpPr>
        <p:spPr>
          <a:xfrm>
            <a:off x="4229100" y="3474720"/>
            <a:ext cx="731520" cy="731520"/>
          </a:xfrm>
          <a:prstGeom prst="ellipse">
            <a:avLst/>
          </a:prstGeom>
          <a:solidFill>
            <a:srgbClr val="FF3D68"/>
          </a:solidFill>
          <a:ln/>
        </p:spPr>
      </p:sp>
      <p:pic>
        <p:nvPicPr>
          <p:cNvPr id="13" name="Image 1" descr="icons/mobile.png">    </p:cNvPr>
          <p:cNvPicPr>
            <a:picLocks noChangeAspect="1"/>
          </p:cNvPicPr>
          <p:nvPr/>
        </p:nvPicPr>
        <p:blipFill>
          <a:blip r:embed="rId2"/>
          <a:stretch>
            <a:fillRect/>
          </a:stretch>
        </p:blipFill>
        <p:spPr>
          <a:xfrm>
            <a:off x="4331513" y="3577133"/>
            <a:ext cx="526694" cy="526694"/>
          </a:xfrm>
          <a:prstGeom prst="rect">
            <a:avLst/>
          </a:prstGeom>
        </p:spPr>
      </p:pic>
      <p:sp>
        <p:nvSpPr>
          <p:cNvPr id="14" name="Text 10"/>
          <p:cNvSpPr/>
          <p:nvPr/>
        </p:nvSpPr>
        <p:spPr>
          <a:xfrm>
            <a:off x="3429000" y="4297680"/>
            <a:ext cx="2331720" cy="320040"/>
          </a:xfrm>
          <a:prstGeom prst="rect">
            <a:avLst/>
          </a:prstGeom>
          <a:noFill/>
          <a:ln/>
        </p:spPr>
        <p:txBody>
          <a:bodyPr wrap="square" rtlCol="0" anchor="ctr"/>
          <a:lstStyle/>
          <a:p>
            <a:pPr algn="ctr" indent="0" marL="0">
              <a:buNone/>
            </a:pPr>
            <a:r>
              <a:rPr lang="en-US" sz="1400" b="1" dirty="0">
                <a:solidFill>
                  <a:srgbClr val="231830"/>
                </a:solidFill>
                <a:latin typeface="Calibri" pitchFamily="34" charset="0"/>
                <a:ea typeface="Calibri" pitchFamily="34" charset="-122"/>
                <a:cs typeface="Calibri" pitchFamily="34" charset="-120"/>
              </a:rPr>
              <a:t>Mobile App</a:t>
            </a:r>
            <a:endParaRPr lang="en-US" sz="1400" dirty="0"/>
          </a:p>
        </p:txBody>
      </p:sp>
      <p:sp>
        <p:nvSpPr>
          <p:cNvPr id="15" name="Text 11"/>
          <p:cNvSpPr/>
          <p:nvPr/>
        </p:nvSpPr>
        <p:spPr>
          <a:xfrm>
            <a:off x="3520440" y="4617720"/>
            <a:ext cx="2148840" cy="365760"/>
          </a:xfrm>
          <a:prstGeom prst="rect">
            <a:avLst/>
          </a:prstGeom>
          <a:noFill/>
          <a:ln/>
        </p:spPr>
        <p:txBody>
          <a:bodyPr wrap="square" rtlCol="0" anchor="ctr"/>
          <a:lstStyle/>
          <a:p>
            <a:pPr algn="ctr" indent="0" marL="0">
              <a:buNone/>
            </a:pPr>
            <a:r>
              <a:rPr lang="en-US" sz="950" dirty="0">
                <a:solidFill>
                  <a:srgbClr val="6E6580"/>
                </a:solidFill>
                <a:latin typeface="Calibri" pitchFamily="34" charset="0"/>
                <a:ea typeface="Calibri" pitchFamily="34" charset="-122"/>
                <a:cs typeface="Calibri" pitchFamily="34" charset="-120"/>
              </a:rPr>
              <a:t>Profile · Plans · Payments</a:t>
            </a:r>
            <a:endParaRPr lang="en-US" sz="950" dirty="0"/>
          </a:p>
        </p:txBody>
      </p:sp>
      <p:sp>
        <p:nvSpPr>
          <p:cNvPr id="16" name="Shape 12"/>
          <p:cNvSpPr/>
          <p:nvPr/>
        </p:nvSpPr>
        <p:spPr>
          <a:xfrm>
            <a:off x="5788152" y="3995928"/>
            <a:ext cx="457200" cy="237744"/>
          </a:xfrm>
          <a:prstGeom prst="rightArrow">
            <a:avLst/>
          </a:prstGeom>
          <a:solidFill>
            <a:srgbClr val="C9B8F5"/>
          </a:solidFill>
          <a:ln/>
        </p:spPr>
      </p:sp>
      <p:sp>
        <p:nvSpPr>
          <p:cNvPr id="17" name="Shape 13"/>
          <p:cNvSpPr/>
          <p:nvPr/>
        </p:nvSpPr>
        <p:spPr>
          <a:xfrm>
            <a:off x="6309360" y="3246120"/>
            <a:ext cx="2331720" cy="1737360"/>
          </a:xfrm>
          <a:prstGeom prst="roundRect">
            <a:avLst>
              <a:gd name="adj" fmla="val 6316"/>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18" name="Shape 14"/>
          <p:cNvSpPr/>
          <p:nvPr/>
        </p:nvSpPr>
        <p:spPr>
          <a:xfrm>
            <a:off x="7109460" y="3474720"/>
            <a:ext cx="731520" cy="731520"/>
          </a:xfrm>
          <a:prstGeom prst="ellipse">
            <a:avLst/>
          </a:prstGeom>
          <a:solidFill>
            <a:srgbClr val="6C2BD9"/>
          </a:solidFill>
          <a:ln/>
        </p:spPr>
      </p:sp>
      <p:pic>
        <p:nvPicPr>
          <p:cNvPr id="19" name="Image 2" descr="icons/database.png">    </p:cNvPr>
          <p:cNvPicPr>
            <a:picLocks noChangeAspect="1"/>
          </p:cNvPicPr>
          <p:nvPr/>
        </p:nvPicPr>
        <p:blipFill>
          <a:blip r:embed="rId3"/>
          <a:stretch>
            <a:fillRect/>
          </a:stretch>
        </p:blipFill>
        <p:spPr>
          <a:xfrm>
            <a:off x="7211873" y="3577133"/>
            <a:ext cx="526694" cy="526694"/>
          </a:xfrm>
          <a:prstGeom prst="rect">
            <a:avLst/>
          </a:prstGeom>
        </p:spPr>
      </p:pic>
      <p:sp>
        <p:nvSpPr>
          <p:cNvPr id="20" name="Text 15"/>
          <p:cNvSpPr/>
          <p:nvPr/>
        </p:nvSpPr>
        <p:spPr>
          <a:xfrm>
            <a:off x="6309360" y="4297680"/>
            <a:ext cx="2331720" cy="320040"/>
          </a:xfrm>
          <a:prstGeom prst="rect">
            <a:avLst/>
          </a:prstGeom>
          <a:noFill/>
          <a:ln/>
        </p:spPr>
        <p:txBody>
          <a:bodyPr wrap="square" rtlCol="0" anchor="ctr"/>
          <a:lstStyle/>
          <a:p>
            <a:pPr algn="ctr" indent="0" marL="0">
              <a:buNone/>
            </a:pPr>
            <a:r>
              <a:rPr lang="en-US" sz="1400" b="1" dirty="0">
                <a:solidFill>
                  <a:srgbClr val="231830"/>
                </a:solidFill>
                <a:latin typeface="Calibri" pitchFamily="34" charset="0"/>
                <a:ea typeface="Calibri" pitchFamily="34" charset="-122"/>
                <a:cs typeface="Calibri" pitchFamily="34" charset="-120"/>
              </a:rPr>
              <a:t>Database</a:t>
            </a:r>
            <a:endParaRPr lang="en-US" sz="1400" dirty="0"/>
          </a:p>
        </p:txBody>
      </p:sp>
      <p:sp>
        <p:nvSpPr>
          <p:cNvPr id="21" name="Text 16"/>
          <p:cNvSpPr/>
          <p:nvPr/>
        </p:nvSpPr>
        <p:spPr>
          <a:xfrm>
            <a:off x="6400800" y="4617720"/>
            <a:ext cx="2148840" cy="365760"/>
          </a:xfrm>
          <a:prstGeom prst="rect">
            <a:avLst/>
          </a:prstGeom>
          <a:noFill/>
          <a:ln/>
        </p:spPr>
        <p:txBody>
          <a:bodyPr wrap="square" rtlCol="0" anchor="ctr"/>
          <a:lstStyle/>
          <a:p>
            <a:pPr algn="ctr" indent="0" marL="0">
              <a:buNone/>
            </a:pPr>
            <a:r>
              <a:rPr lang="en-US" sz="950" dirty="0">
                <a:solidFill>
                  <a:srgbClr val="6E6580"/>
                </a:solidFill>
                <a:latin typeface="Calibri" pitchFamily="34" charset="0"/>
                <a:ea typeface="Calibri" pitchFamily="34" charset="-122"/>
                <a:cs typeface="Calibri" pitchFamily="34" charset="-120"/>
              </a:rPr>
              <a:t>Secure, normalized storage</a:t>
            </a:r>
            <a:endParaRPr lang="en-US" sz="950" dirty="0"/>
          </a:p>
        </p:txBody>
      </p:sp>
      <p:sp>
        <p:nvSpPr>
          <p:cNvPr id="22" name="Shape 17"/>
          <p:cNvSpPr/>
          <p:nvPr/>
        </p:nvSpPr>
        <p:spPr>
          <a:xfrm>
            <a:off x="8668512" y="3995928"/>
            <a:ext cx="457200" cy="237744"/>
          </a:xfrm>
          <a:prstGeom prst="rightArrow">
            <a:avLst/>
          </a:prstGeom>
          <a:solidFill>
            <a:srgbClr val="C9B8F5"/>
          </a:solidFill>
          <a:ln/>
        </p:spPr>
      </p:sp>
      <p:sp>
        <p:nvSpPr>
          <p:cNvPr id="23" name="Shape 18"/>
          <p:cNvSpPr/>
          <p:nvPr/>
        </p:nvSpPr>
        <p:spPr>
          <a:xfrm>
            <a:off x="9189720" y="3246120"/>
            <a:ext cx="2331720" cy="1737360"/>
          </a:xfrm>
          <a:prstGeom prst="roundRect">
            <a:avLst>
              <a:gd name="adj" fmla="val 6316"/>
            </a:avLst>
          </a:prstGeom>
          <a:solidFill>
            <a:srgbClr val="FFFFFF"/>
          </a:solidFill>
          <a:ln w="12700">
            <a:solidFill>
              <a:srgbClr val="E4DBF5"/>
            </a:solidFill>
            <a:prstDash val="solid"/>
          </a:ln>
          <a:effectLst>
            <a:outerShdw sx="100000" sy="100000" kx="0" ky="0" algn="bl" rotWithShape="0" blurRad="101600" dist="38100" dir="5400000">
              <a:srgbClr val="6C2BD9">
                <a:alpha val="12000"/>
              </a:srgbClr>
            </a:outerShdw>
          </a:effectLst>
        </p:spPr>
      </p:sp>
      <p:sp>
        <p:nvSpPr>
          <p:cNvPr id="24" name="Shape 19"/>
          <p:cNvSpPr/>
          <p:nvPr/>
        </p:nvSpPr>
        <p:spPr>
          <a:xfrm>
            <a:off x="9989820" y="3474720"/>
            <a:ext cx="731520" cy="731520"/>
          </a:xfrm>
          <a:prstGeom prst="ellipse">
            <a:avLst/>
          </a:prstGeom>
          <a:solidFill>
            <a:srgbClr val="FF3D68"/>
          </a:solidFill>
          <a:ln/>
        </p:spPr>
      </p:sp>
      <p:pic>
        <p:nvPicPr>
          <p:cNvPr id="25" name="Image 3" descr="icons/bell.png">    </p:cNvPr>
          <p:cNvPicPr>
            <a:picLocks noChangeAspect="1"/>
          </p:cNvPicPr>
          <p:nvPr/>
        </p:nvPicPr>
        <p:blipFill>
          <a:blip r:embed="rId4"/>
          <a:stretch>
            <a:fillRect/>
          </a:stretch>
        </p:blipFill>
        <p:spPr>
          <a:xfrm>
            <a:off x="10092233" y="3577133"/>
            <a:ext cx="526694" cy="526694"/>
          </a:xfrm>
          <a:prstGeom prst="rect">
            <a:avLst/>
          </a:prstGeom>
        </p:spPr>
      </p:pic>
      <p:sp>
        <p:nvSpPr>
          <p:cNvPr id="26" name="Text 20"/>
          <p:cNvSpPr/>
          <p:nvPr/>
        </p:nvSpPr>
        <p:spPr>
          <a:xfrm>
            <a:off x="9189720" y="4297680"/>
            <a:ext cx="2331720" cy="320040"/>
          </a:xfrm>
          <a:prstGeom prst="rect">
            <a:avLst/>
          </a:prstGeom>
          <a:noFill/>
          <a:ln/>
        </p:spPr>
        <p:txBody>
          <a:bodyPr wrap="square" rtlCol="0" anchor="ctr"/>
          <a:lstStyle/>
          <a:p>
            <a:pPr algn="ctr" indent="0" marL="0">
              <a:buNone/>
            </a:pPr>
            <a:r>
              <a:rPr lang="en-US" sz="1400" b="1" dirty="0">
                <a:solidFill>
                  <a:srgbClr val="231830"/>
                </a:solidFill>
                <a:latin typeface="Calibri" pitchFamily="34" charset="0"/>
                <a:ea typeface="Calibri" pitchFamily="34" charset="-122"/>
                <a:cs typeface="Calibri" pitchFamily="34" charset="-120"/>
              </a:rPr>
              <a:t>Smart Output</a:t>
            </a:r>
            <a:endParaRPr lang="en-US" sz="1400" dirty="0"/>
          </a:p>
        </p:txBody>
      </p:sp>
      <p:sp>
        <p:nvSpPr>
          <p:cNvPr id="27" name="Text 21"/>
          <p:cNvSpPr/>
          <p:nvPr/>
        </p:nvSpPr>
        <p:spPr>
          <a:xfrm>
            <a:off x="9281160" y="4617720"/>
            <a:ext cx="2148840" cy="365760"/>
          </a:xfrm>
          <a:prstGeom prst="rect">
            <a:avLst/>
          </a:prstGeom>
          <a:noFill/>
          <a:ln/>
        </p:spPr>
        <p:txBody>
          <a:bodyPr wrap="square" rtlCol="0" anchor="ctr"/>
          <a:lstStyle/>
          <a:p>
            <a:pPr algn="ctr" indent="0" marL="0">
              <a:buNone/>
            </a:pPr>
            <a:r>
              <a:rPr lang="en-US" sz="950" dirty="0">
                <a:solidFill>
                  <a:srgbClr val="6E6580"/>
                </a:solidFill>
                <a:latin typeface="Calibri" pitchFamily="34" charset="0"/>
                <a:ea typeface="Calibri" pitchFamily="34" charset="-122"/>
                <a:cs typeface="Calibri" pitchFamily="34" charset="-120"/>
              </a:rPr>
              <a:t>Recommendations &amp; alerts</a:t>
            </a:r>
            <a:endParaRPr lang="en-US" sz="950" dirty="0"/>
          </a:p>
        </p:txBody>
      </p:sp>
      <p:sp>
        <p:nvSpPr>
          <p:cNvPr id="28" name="Shape 22"/>
          <p:cNvSpPr/>
          <p:nvPr/>
        </p:nvSpPr>
        <p:spPr>
          <a:xfrm>
            <a:off x="548640" y="5440680"/>
            <a:ext cx="457200" cy="457200"/>
          </a:xfrm>
          <a:prstGeom prst="ellipse">
            <a:avLst/>
          </a:prstGeom>
          <a:solidFill>
            <a:srgbClr val="6C2BD9"/>
          </a:solidFill>
          <a:ln/>
        </p:spPr>
      </p:sp>
      <p:pic>
        <p:nvPicPr>
          <p:cNvPr id="29" name="Image 4" descr="icons/check.png">    </p:cNvPr>
          <p:cNvPicPr>
            <a:picLocks noChangeAspect="1"/>
          </p:cNvPicPr>
          <p:nvPr/>
        </p:nvPicPr>
        <p:blipFill>
          <a:blip r:embed="rId5"/>
          <a:stretch>
            <a:fillRect/>
          </a:stretch>
        </p:blipFill>
        <p:spPr>
          <a:xfrm>
            <a:off x="612648" y="5504688"/>
            <a:ext cx="329184" cy="329184"/>
          </a:xfrm>
          <a:prstGeom prst="rect">
            <a:avLst/>
          </a:prstGeom>
        </p:spPr>
      </p:pic>
      <p:sp>
        <p:nvSpPr>
          <p:cNvPr id="30" name="Text 23"/>
          <p:cNvSpPr/>
          <p:nvPr/>
        </p:nvSpPr>
        <p:spPr>
          <a:xfrm>
            <a:off x="1143000" y="5422392"/>
            <a:ext cx="3246120" cy="502920"/>
          </a:xfrm>
          <a:prstGeom prst="rect">
            <a:avLst/>
          </a:prstGeom>
          <a:noFill/>
          <a:ln/>
        </p:spPr>
        <p:txBody>
          <a:bodyPr wrap="square" rtlCol="0" anchor="ctr"/>
          <a:lstStyle/>
          <a:p>
            <a:pPr indent="0" marL="0">
              <a:buNone/>
            </a:pPr>
            <a:r>
              <a:rPr lang="en-US" sz="1100" dirty="0">
                <a:solidFill>
                  <a:srgbClr val="231830"/>
                </a:solidFill>
                <a:latin typeface="Calibri" pitchFamily="34" charset="0"/>
                <a:ea typeface="Calibri" pitchFamily="34" charset="-122"/>
                <a:cs typeface="Calibri" pitchFamily="34" charset="-120"/>
              </a:rPr>
              <a:t>Reduces dependency on customer support</a:t>
            </a:r>
            <a:endParaRPr lang="en-US" sz="1100" dirty="0"/>
          </a:p>
        </p:txBody>
      </p:sp>
      <p:sp>
        <p:nvSpPr>
          <p:cNvPr id="31" name="Shape 24"/>
          <p:cNvSpPr/>
          <p:nvPr/>
        </p:nvSpPr>
        <p:spPr>
          <a:xfrm>
            <a:off x="4297680" y="5440680"/>
            <a:ext cx="457200" cy="457200"/>
          </a:xfrm>
          <a:prstGeom prst="ellipse">
            <a:avLst/>
          </a:prstGeom>
          <a:solidFill>
            <a:srgbClr val="6C2BD9"/>
          </a:solidFill>
          <a:ln/>
        </p:spPr>
      </p:sp>
      <p:pic>
        <p:nvPicPr>
          <p:cNvPr id="32" name="Image 5" descr="icons/heart.png">    </p:cNvPr>
          <p:cNvPicPr>
            <a:picLocks noChangeAspect="1"/>
          </p:cNvPicPr>
          <p:nvPr/>
        </p:nvPicPr>
        <p:blipFill>
          <a:blip r:embed="rId6"/>
          <a:stretch>
            <a:fillRect/>
          </a:stretch>
        </p:blipFill>
        <p:spPr>
          <a:xfrm>
            <a:off x="4361688" y="5504688"/>
            <a:ext cx="329184" cy="329184"/>
          </a:xfrm>
          <a:prstGeom prst="rect">
            <a:avLst/>
          </a:prstGeom>
        </p:spPr>
      </p:pic>
      <p:sp>
        <p:nvSpPr>
          <p:cNvPr id="33" name="Text 25"/>
          <p:cNvSpPr/>
          <p:nvPr/>
        </p:nvSpPr>
        <p:spPr>
          <a:xfrm>
            <a:off x="4892040" y="5422392"/>
            <a:ext cx="3246120" cy="502920"/>
          </a:xfrm>
          <a:prstGeom prst="rect">
            <a:avLst/>
          </a:prstGeom>
          <a:noFill/>
          <a:ln/>
        </p:spPr>
        <p:txBody>
          <a:bodyPr wrap="square" rtlCol="0" anchor="ctr"/>
          <a:lstStyle/>
          <a:p>
            <a:pPr indent="0" marL="0">
              <a:buNone/>
            </a:pPr>
            <a:r>
              <a:rPr lang="en-US" sz="1100" dirty="0">
                <a:solidFill>
                  <a:srgbClr val="231830"/>
                </a:solidFill>
                <a:latin typeface="Calibri" pitchFamily="34" charset="0"/>
                <a:ea typeface="Calibri" pitchFamily="34" charset="-122"/>
                <a:cs typeface="Calibri" pitchFamily="34" charset="-120"/>
              </a:rPr>
              <a:t>Personalized content &amp; timely alerts</a:t>
            </a:r>
            <a:endParaRPr lang="en-US" sz="1100" dirty="0"/>
          </a:p>
        </p:txBody>
      </p:sp>
      <p:sp>
        <p:nvSpPr>
          <p:cNvPr id="34" name="Shape 26"/>
          <p:cNvSpPr/>
          <p:nvPr/>
        </p:nvSpPr>
        <p:spPr>
          <a:xfrm>
            <a:off x="8046720" y="5440680"/>
            <a:ext cx="457200" cy="457200"/>
          </a:xfrm>
          <a:prstGeom prst="ellipse">
            <a:avLst/>
          </a:prstGeom>
          <a:solidFill>
            <a:srgbClr val="6C2BD9"/>
          </a:solidFill>
          <a:ln/>
        </p:spPr>
      </p:sp>
      <p:pic>
        <p:nvPicPr>
          <p:cNvPr id="35" name="Image 6" descr="icons/shield.png">    </p:cNvPr>
          <p:cNvPicPr>
            <a:picLocks noChangeAspect="1"/>
          </p:cNvPicPr>
          <p:nvPr/>
        </p:nvPicPr>
        <p:blipFill>
          <a:blip r:embed="rId7"/>
          <a:stretch>
            <a:fillRect/>
          </a:stretch>
        </p:blipFill>
        <p:spPr>
          <a:xfrm>
            <a:off x="8110728" y="5504688"/>
            <a:ext cx="329184" cy="329184"/>
          </a:xfrm>
          <a:prstGeom prst="rect">
            <a:avLst/>
          </a:prstGeom>
        </p:spPr>
      </p:pic>
      <p:sp>
        <p:nvSpPr>
          <p:cNvPr id="36" name="Text 27"/>
          <p:cNvSpPr/>
          <p:nvPr/>
        </p:nvSpPr>
        <p:spPr>
          <a:xfrm>
            <a:off x="8641080" y="5422392"/>
            <a:ext cx="3246120" cy="502920"/>
          </a:xfrm>
          <a:prstGeom prst="rect">
            <a:avLst/>
          </a:prstGeom>
          <a:noFill/>
          <a:ln/>
        </p:spPr>
        <p:txBody>
          <a:bodyPr wrap="square" rtlCol="0" anchor="ctr"/>
          <a:lstStyle/>
          <a:p>
            <a:pPr indent="0" marL="0">
              <a:buNone/>
            </a:pPr>
            <a:r>
              <a:rPr lang="en-US" sz="1100" dirty="0">
                <a:solidFill>
                  <a:srgbClr val="231830"/>
                </a:solidFill>
                <a:latin typeface="Calibri" pitchFamily="34" charset="0"/>
                <a:ea typeface="Calibri" pitchFamily="34" charset="-122"/>
                <a:cs typeface="Calibri" pitchFamily="34" charset="-120"/>
              </a:rPr>
              <a:t>Data integrity via keys, normalization &amp; transactions</a:t>
            </a:r>
            <a:endParaRPr lang="en-US" sz="1100" dirty="0"/>
          </a:p>
        </p:txBody>
      </p:sp>
      <p:sp>
        <p:nvSpPr>
          <p:cNvPr id="37" name="Text 28"/>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6580"/>
                </a:solidFill>
                <a:latin typeface="Calibri" pitchFamily="34" charset="0"/>
                <a:ea typeface="Calibri" pitchFamily="34" charset="-122"/>
                <a:cs typeface="Calibri" pitchFamily="34" charset="-120"/>
              </a:rPr>
              <a:t>3</a:t>
            </a:r>
            <a:endParaRPr lang="en-US" sz="1000" dirty="0"/>
          </a:p>
        </p:txBody>
      </p:sp>
      <p:sp>
        <p:nvSpPr>
          <p:cNvPr id="38" name="Text 29"/>
          <p:cNvSpPr/>
          <p:nvPr/>
        </p:nvSpPr>
        <p:spPr>
          <a:xfrm>
            <a:off x="457200" y="6400800"/>
            <a:ext cx="7315200" cy="274320"/>
          </a:xfrm>
          <a:prstGeom prst="rect">
            <a:avLst/>
          </a:prstGeom>
          <a:noFill/>
          <a:ln/>
        </p:spPr>
        <p:txBody>
          <a:bodyPr wrap="square" rtlCol="0" anchor="ctr"/>
          <a:lstStyle/>
          <a:p>
            <a:pPr algn="l" indent="0" marL="0">
              <a:buNone/>
            </a:pPr>
            <a:r>
              <a:rPr lang="en-US" sz="900" dirty="0">
                <a:solidFill>
                  <a:srgbClr val="B9AFCF"/>
                </a:solidFill>
                <a:latin typeface="Calibri" pitchFamily="34" charset="0"/>
                <a:ea typeface="Calibri" pitchFamily="34" charset="-122"/>
                <a:cs typeface="Calibri" pitchFamily="34" charset="-120"/>
              </a:rPr>
              <a:t>Media &amp; Entertainment Subscriber Self-Service App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FC"/>
        </a:solidFill>
      </p:bgPr>
    </p:bg>
    <p:spTree>
      <p:nvGrpSpPr>
        <p:cNvPr id="1" name=""/>
        <p:cNvGrpSpPr/>
        <p:nvPr/>
      </p:nvGrpSpPr>
      <p:grpSpPr>
        <a:xfrm>
          <a:off x="0" y="0"/>
          <a:ext cx="0" cy="0"/>
          <a:chOff x="0" y="0"/>
          <a:chExt cx="0" cy="0"/>
        </a:xfrm>
      </p:grpSpPr>
      <p:sp>
        <p:nvSpPr>
          <p:cNvPr id="2" name="Text 0"/>
          <p:cNvSpPr/>
          <p:nvPr/>
        </p:nvSpPr>
        <p:spPr>
          <a:xfrm>
            <a:off x="548640" y="457200"/>
            <a:ext cx="10515600" cy="640080"/>
          </a:xfrm>
          <a:prstGeom prst="rect">
            <a:avLst/>
          </a:prstGeom>
          <a:noFill/>
          <a:ln/>
        </p:spPr>
        <p:txBody>
          <a:bodyPr wrap="square" rtlCol="0" anchor="ctr"/>
          <a:lstStyle/>
          <a:p>
            <a:pPr indent="0" marL="0">
              <a:buNone/>
            </a:pPr>
            <a:r>
              <a:rPr lang="en-US" sz="3000" b="1" dirty="0">
                <a:solidFill>
                  <a:srgbClr val="231830"/>
                </a:solidFill>
                <a:latin typeface="Cambria" pitchFamily="34" charset="0"/>
                <a:ea typeface="Cambria" pitchFamily="34" charset="-122"/>
                <a:cs typeface="Cambria" pitchFamily="34" charset="-120"/>
              </a:rPr>
              <a:t>Software &amp; Hardware Requirements</a:t>
            </a:r>
            <a:endParaRPr lang="en-US" sz="3000" dirty="0"/>
          </a:p>
        </p:txBody>
      </p:sp>
      <p:sp>
        <p:nvSpPr>
          <p:cNvPr id="3" name="Shape 1"/>
          <p:cNvSpPr/>
          <p:nvPr/>
        </p:nvSpPr>
        <p:spPr>
          <a:xfrm>
            <a:off x="548640" y="1097280"/>
            <a:ext cx="502920" cy="82296"/>
          </a:xfrm>
          <a:prstGeom prst="roundRect">
            <a:avLst>
              <a:gd name="adj" fmla="val 44444"/>
            </a:avLst>
          </a:prstGeom>
          <a:solidFill>
            <a:srgbClr val="FF3D68"/>
          </a:solidFill>
          <a:ln/>
        </p:spPr>
      </p:sp>
      <p:sp>
        <p:nvSpPr>
          <p:cNvPr id="4" name="Text 2"/>
          <p:cNvSpPr/>
          <p:nvPr/>
        </p:nvSpPr>
        <p:spPr>
          <a:xfrm>
            <a:off x="548640" y="1325880"/>
            <a:ext cx="5486400" cy="320040"/>
          </a:xfrm>
          <a:prstGeom prst="rect">
            <a:avLst/>
          </a:prstGeom>
          <a:noFill/>
          <a:ln/>
        </p:spPr>
        <p:txBody>
          <a:bodyPr wrap="square" rtlCol="0" anchor="ctr"/>
          <a:lstStyle/>
          <a:p>
            <a:pPr indent="0" marL="0">
              <a:buNone/>
            </a:pPr>
            <a:r>
              <a:rPr lang="en-US" sz="1200" b="1" spc="150" kern="0" dirty="0">
                <a:solidFill>
                  <a:srgbClr val="6C2BD9"/>
                </a:solidFill>
                <a:latin typeface="Calibri" pitchFamily="34" charset="0"/>
                <a:ea typeface="Calibri" pitchFamily="34" charset="-122"/>
                <a:cs typeface="Calibri" pitchFamily="34" charset="-120"/>
              </a:rPr>
              <a:t>SOFTWARE STACK</a:t>
            </a:r>
            <a:endParaRPr lang="en-US" sz="1200" dirty="0"/>
          </a:p>
        </p:txBody>
      </p:sp>
      <p:sp>
        <p:nvSpPr>
          <p:cNvPr id="5" name="Shape 3"/>
          <p:cNvSpPr/>
          <p:nvPr/>
        </p:nvSpPr>
        <p:spPr>
          <a:xfrm>
            <a:off x="548640" y="1737360"/>
            <a:ext cx="1975104" cy="1417320"/>
          </a:xfrm>
          <a:prstGeom prst="roundRect">
            <a:avLst>
              <a:gd name="adj" fmla="val 6452"/>
            </a:avLst>
          </a:prstGeom>
          <a:solidFill>
            <a:srgbClr val="FFFFFF"/>
          </a:solidFill>
          <a:ln w="12700">
            <a:solidFill>
              <a:srgbClr val="E4DBF5"/>
            </a:solidFill>
            <a:prstDash val="solid"/>
          </a:ln>
        </p:spPr>
      </p:sp>
      <p:sp>
        <p:nvSpPr>
          <p:cNvPr id="6" name="Shape 4"/>
          <p:cNvSpPr/>
          <p:nvPr/>
        </p:nvSpPr>
        <p:spPr>
          <a:xfrm>
            <a:off x="1243584" y="1883664"/>
            <a:ext cx="585216" cy="585216"/>
          </a:xfrm>
          <a:prstGeom prst="ellipse">
            <a:avLst/>
          </a:prstGeom>
          <a:solidFill>
            <a:srgbClr val="6C2BD9"/>
          </a:solidFill>
          <a:ln/>
        </p:spPr>
      </p:sp>
      <p:pic>
        <p:nvPicPr>
          <p:cNvPr id="7" name="Image 0" descr="icons/android.png">    </p:cNvPr>
          <p:cNvPicPr>
            <a:picLocks noChangeAspect="1"/>
          </p:cNvPicPr>
          <p:nvPr/>
        </p:nvPicPr>
        <p:blipFill>
          <a:blip r:embed="rId1"/>
          <a:stretch>
            <a:fillRect/>
          </a:stretch>
        </p:blipFill>
        <p:spPr>
          <a:xfrm>
            <a:off x="1325514" y="1965594"/>
            <a:ext cx="421356" cy="421356"/>
          </a:xfrm>
          <a:prstGeom prst="rect">
            <a:avLst/>
          </a:prstGeom>
        </p:spPr>
      </p:pic>
      <p:sp>
        <p:nvSpPr>
          <p:cNvPr id="8" name="Text 5"/>
          <p:cNvSpPr/>
          <p:nvPr/>
        </p:nvSpPr>
        <p:spPr>
          <a:xfrm>
            <a:off x="621792" y="2560320"/>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Android Studio</a:t>
            </a:r>
            <a:endParaRPr lang="en-US" sz="1050" dirty="0"/>
          </a:p>
        </p:txBody>
      </p:sp>
      <p:sp>
        <p:nvSpPr>
          <p:cNvPr id="9" name="Text 6"/>
          <p:cNvSpPr/>
          <p:nvPr/>
        </p:nvSpPr>
        <p:spPr>
          <a:xfrm>
            <a:off x="621792" y="2852928"/>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Mobile dev platform</a:t>
            </a:r>
            <a:endParaRPr lang="en-US" sz="800" dirty="0"/>
          </a:p>
        </p:txBody>
      </p:sp>
      <p:sp>
        <p:nvSpPr>
          <p:cNvPr id="10" name="Shape 7"/>
          <p:cNvSpPr/>
          <p:nvPr/>
        </p:nvSpPr>
        <p:spPr>
          <a:xfrm>
            <a:off x="2651760" y="1737360"/>
            <a:ext cx="1975104" cy="1417320"/>
          </a:xfrm>
          <a:prstGeom prst="roundRect">
            <a:avLst>
              <a:gd name="adj" fmla="val 6452"/>
            </a:avLst>
          </a:prstGeom>
          <a:solidFill>
            <a:srgbClr val="FFFFFF"/>
          </a:solidFill>
          <a:ln w="12700">
            <a:solidFill>
              <a:srgbClr val="E4DBF5"/>
            </a:solidFill>
            <a:prstDash val="solid"/>
          </a:ln>
        </p:spPr>
      </p:sp>
      <p:sp>
        <p:nvSpPr>
          <p:cNvPr id="11" name="Shape 8"/>
          <p:cNvSpPr/>
          <p:nvPr/>
        </p:nvSpPr>
        <p:spPr>
          <a:xfrm>
            <a:off x="3346704" y="1883664"/>
            <a:ext cx="585216" cy="585216"/>
          </a:xfrm>
          <a:prstGeom prst="ellipse">
            <a:avLst/>
          </a:prstGeom>
          <a:solidFill>
            <a:srgbClr val="FF3D68"/>
          </a:solidFill>
          <a:ln/>
        </p:spPr>
      </p:sp>
      <p:pic>
        <p:nvPicPr>
          <p:cNvPr id="12" name="Image 1" descr="icons/kotlin.png">    </p:cNvPr>
          <p:cNvPicPr>
            <a:picLocks noChangeAspect="1"/>
          </p:cNvPicPr>
          <p:nvPr/>
        </p:nvPicPr>
        <p:blipFill>
          <a:blip r:embed="rId2"/>
          <a:stretch>
            <a:fillRect/>
          </a:stretch>
        </p:blipFill>
        <p:spPr>
          <a:xfrm>
            <a:off x="3428634" y="1965594"/>
            <a:ext cx="421356" cy="421356"/>
          </a:xfrm>
          <a:prstGeom prst="rect">
            <a:avLst/>
          </a:prstGeom>
        </p:spPr>
      </p:pic>
      <p:sp>
        <p:nvSpPr>
          <p:cNvPr id="13" name="Text 9"/>
          <p:cNvSpPr/>
          <p:nvPr/>
        </p:nvSpPr>
        <p:spPr>
          <a:xfrm>
            <a:off x="2724912" y="2560320"/>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Java / Kotlin</a:t>
            </a:r>
            <a:endParaRPr lang="en-US" sz="1050" dirty="0"/>
          </a:p>
        </p:txBody>
      </p:sp>
      <p:sp>
        <p:nvSpPr>
          <p:cNvPr id="14" name="Text 10"/>
          <p:cNvSpPr/>
          <p:nvPr/>
        </p:nvSpPr>
        <p:spPr>
          <a:xfrm>
            <a:off x="2724912" y="2852928"/>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App programming</a:t>
            </a:r>
            <a:endParaRPr lang="en-US" sz="800" dirty="0"/>
          </a:p>
        </p:txBody>
      </p:sp>
      <p:sp>
        <p:nvSpPr>
          <p:cNvPr id="15" name="Shape 11"/>
          <p:cNvSpPr/>
          <p:nvPr/>
        </p:nvSpPr>
        <p:spPr>
          <a:xfrm>
            <a:off x="4754880" y="1737360"/>
            <a:ext cx="1975104" cy="1417320"/>
          </a:xfrm>
          <a:prstGeom prst="roundRect">
            <a:avLst>
              <a:gd name="adj" fmla="val 6452"/>
            </a:avLst>
          </a:prstGeom>
          <a:solidFill>
            <a:srgbClr val="FFFFFF"/>
          </a:solidFill>
          <a:ln w="12700">
            <a:solidFill>
              <a:srgbClr val="E4DBF5"/>
            </a:solidFill>
            <a:prstDash val="solid"/>
          </a:ln>
        </p:spPr>
      </p:sp>
      <p:sp>
        <p:nvSpPr>
          <p:cNvPr id="16" name="Shape 12"/>
          <p:cNvSpPr/>
          <p:nvPr/>
        </p:nvSpPr>
        <p:spPr>
          <a:xfrm>
            <a:off x="5449824" y="1883664"/>
            <a:ext cx="585216" cy="585216"/>
          </a:xfrm>
          <a:prstGeom prst="ellipse">
            <a:avLst/>
          </a:prstGeom>
          <a:solidFill>
            <a:srgbClr val="6C2BD9"/>
          </a:solidFill>
          <a:ln/>
        </p:spPr>
      </p:sp>
      <p:pic>
        <p:nvPicPr>
          <p:cNvPr id="17" name="Image 2" descr="icons/xml.png">    </p:cNvPr>
          <p:cNvPicPr>
            <a:picLocks noChangeAspect="1"/>
          </p:cNvPicPr>
          <p:nvPr/>
        </p:nvPicPr>
        <p:blipFill>
          <a:blip r:embed="rId3"/>
          <a:stretch>
            <a:fillRect/>
          </a:stretch>
        </p:blipFill>
        <p:spPr>
          <a:xfrm>
            <a:off x="5531754" y="1965594"/>
            <a:ext cx="421356" cy="421356"/>
          </a:xfrm>
          <a:prstGeom prst="rect">
            <a:avLst/>
          </a:prstGeom>
        </p:spPr>
      </p:pic>
      <p:sp>
        <p:nvSpPr>
          <p:cNvPr id="18" name="Text 13"/>
          <p:cNvSpPr/>
          <p:nvPr/>
        </p:nvSpPr>
        <p:spPr>
          <a:xfrm>
            <a:off x="4828032" y="2560320"/>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XML</a:t>
            </a:r>
            <a:endParaRPr lang="en-US" sz="1050" dirty="0"/>
          </a:p>
        </p:txBody>
      </p:sp>
      <p:sp>
        <p:nvSpPr>
          <p:cNvPr id="19" name="Text 14"/>
          <p:cNvSpPr/>
          <p:nvPr/>
        </p:nvSpPr>
        <p:spPr>
          <a:xfrm>
            <a:off x="4828032" y="2852928"/>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UI layout design</a:t>
            </a:r>
            <a:endParaRPr lang="en-US" sz="800" dirty="0"/>
          </a:p>
        </p:txBody>
      </p:sp>
      <p:sp>
        <p:nvSpPr>
          <p:cNvPr id="20" name="Shape 15"/>
          <p:cNvSpPr/>
          <p:nvPr/>
        </p:nvSpPr>
        <p:spPr>
          <a:xfrm>
            <a:off x="6858000" y="1737360"/>
            <a:ext cx="1975104" cy="1417320"/>
          </a:xfrm>
          <a:prstGeom prst="roundRect">
            <a:avLst>
              <a:gd name="adj" fmla="val 6452"/>
            </a:avLst>
          </a:prstGeom>
          <a:solidFill>
            <a:srgbClr val="FFFFFF"/>
          </a:solidFill>
          <a:ln w="12700">
            <a:solidFill>
              <a:srgbClr val="E4DBF5"/>
            </a:solidFill>
            <a:prstDash val="solid"/>
          </a:ln>
        </p:spPr>
      </p:sp>
      <p:sp>
        <p:nvSpPr>
          <p:cNvPr id="21" name="Shape 16"/>
          <p:cNvSpPr/>
          <p:nvPr/>
        </p:nvSpPr>
        <p:spPr>
          <a:xfrm>
            <a:off x="7552944" y="1883664"/>
            <a:ext cx="585216" cy="585216"/>
          </a:xfrm>
          <a:prstGeom prst="ellipse">
            <a:avLst/>
          </a:prstGeom>
          <a:solidFill>
            <a:srgbClr val="FF3D68"/>
          </a:solidFill>
          <a:ln/>
        </p:spPr>
      </p:sp>
      <p:pic>
        <p:nvPicPr>
          <p:cNvPr id="22" name="Image 3" descr="icons/mysql.png">    </p:cNvPr>
          <p:cNvPicPr>
            <a:picLocks noChangeAspect="1"/>
          </p:cNvPicPr>
          <p:nvPr/>
        </p:nvPicPr>
        <p:blipFill>
          <a:blip r:embed="rId4"/>
          <a:stretch>
            <a:fillRect/>
          </a:stretch>
        </p:blipFill>
        <p:spPr>
          <a:xfrm>
            <a:off x="7634874" y="1965594"/>
            <a:ext cx="421356" cy="421356"/>
          </a:xfrm>
          <a:prstGeom prst="rect">
            <a:avLst/>
          </a:prstGeom>
        </p:spPr>
      </p:pic>
      <p:sp>
        <p:nvSpPr>
          <p:cNvPr id="23" name="Text 17"/>
          <p:cNvSpPr/>
          <p:nvPr/>
        </p:nvSpPr>
        <p:spPr>
          <a:xfrm>
            <a:off x="6931152" y="2560320"/>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MySQL</a:t>
            </a:r>
            <a:endParaRPr lang="en-US" sz="1050" dirty="0"/>
          </a:p>
        </p:txBody>
      </p:sp>
      <p:sp>
        <p:nvSpPr>
          <p:cNvPr id="24" name="Text 18"/>
          <p:cNvSpPr/>
          <p:nvPr/>
        </p:nvSpPr>
        <p:spPr>
          <a:xfrm>
            <a:off x="6931152" y="2852928"/>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Relational database</a:t>
            </a:r>
            <a:endParaRPr lang="en-US" sz="800" dirty="0"/>
          </a:p>
        </p:txBody>
      </p:sp>
      <p:sp>
        <p:nvSpPr>
          <p:cNvPr id="25" name="Shape 19"/>
          <p:cNvSpPr/>
          <p:nvPr/>
        </p:nvSpPr>
        <p:spPr>
          <a:xfrm>
            <a:off x="8961120" y="1737360"/>
            <a:ext cx="1975104" cy="1417320"/>
          </a:xfrm>
          <a:prstGeom prst="roundRect">
            <a:avLst>
              <a:gd name="adj" fmla="val 6452"/>
            </a:avLst>
          </a:prstGeom>
          <a:solidFill>
            <a:srgbClr val="FFFFFF"/>
          </a:solidFill>
          <a:ln w="12700">
            <a:solidFill>
              <a:srgbClr val="E4DBF5"/>
            </a:solidFill>
            <a:prstDash val="solid"/>
          </a:ln>
        </p:spPr>
      </p:sp>
      <p:sp>
        <p:nvSpPr>
          <p:cNvPr id="26" name="Shape 20"/>
          <p:cNvSpPr/>
          <p:nvPr/>
        </p:nvSpPr>
        <p:spPr>
          <a:xfrm>
            <a:off x="9656064" y="1883664"/>
            <a:ext cx="585216" cy="585216"/>
          </a:xfrm>
          <a:prstGeom prst="ellipse">
            <a:avLst/>
          </a:prstGeom>
          <a:solidFill>
            <a:srgbClr val="6C2BD9"/>
          </a:solidFill>
          <a:ln/>
        </p:spPr>
      </p:sp>
      <p:pic>
        <p:nvPicPr>
          <p:cNvPr id="27" name="Image 4" descr="icons/firebase.png">    </p:cNvPr>
          <p:cNvPicPr>
            <a:picLocks noChangeAspect="1"/>
          </p:cNvPicPr>
          <p:nvPr/>
        </p:nvPicPr>
        <p:blipFill>
          <a:blip r:embed="rId5"/>
          <a:stretch>
            <a:fillRect/>
          </a:stretch>
        </p:blipFill>
        <p:spPr>
          <a:xfrm>
            <a:off x="9737994" y="1965594"/>
            <a:ext cx="421356" cy="421356"/>
          </a:xfrm>
          <a:prstGeom prst="rect">
            <a:avLst/>
          </a:prstGeom>
        </p:spPr>
      </p:pic>
      <p:sp>
        <p:nvSpPr>
          <p:cNvPr id="28" name="Text 21"/>
          <p:cNvSpPr/>
          <p:nvPr/>
        </p:nvSpPr>
        <p:spPr>
          <a:xfrm>
            <a:off x="9034272" y="2560320"/>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Firebase</a:t>
            </a:r>
            <a:endParaRPr lang="en-US" sz="1050" dirty="0"/>
          </a:p>
        </p:txBody>
      </p:sp>
      <p:sp>
        <p:nvSpPr>
          <p:cNvPr id="29" name="Text 22"/>
          <p:cNvSpPr/>
          <p:nvPr/>
        </p:nvSpPr>
        <p:spPr>
          <a:xfrm>
            <a:off x="9034272" y="2852928"/>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Auth &amp; notifications</a:t>
            </a:r>
            <a:endParaRPr lang="en-US" sz="800" dirty="0"/>
          </a:p>
        </p:txBody>
      </p:sp>
      <p:sp>
        <p:nvSpPr>
          <p:cNvPr id="30" name="Shape 23"/>
          <p:cNvSpPr/>
          <p:nvPr/>
        </p:nvSpPr>
        <p:spPr>
          <a:xfrm>
            <a:off x="548640" y="3300984"/>
            <a:ext cx="1975104" cy="1417320"/>
          </a:xfrm>
          <a:prstGeom prst="roundRect">
            <a:avLst>
              <a:gd name="adj" fmla="val 6452"/>
            </a:avLst>
          </a:prstGeom>
          <a:solidFill>
            <a:srgbClr val="FFFFFF"/>
          </a:solidFill>
          <a:ln w="12700">
            <a:solidFill>
              <a:srgbClr val="E4DBF5"/>
            </a:solidFill>
            <a:prstDash val="solid"/>
          </a:ln>
        </p:spPr>
      </p:sp>
      <p:sp>
        <p:nvSpPr>
          <p:cNvPr id="31" name="Shape 24"/>
          <p:cNvSpPr/>
          <p:nvPr/>
        </p:nvSpPr>
        <p:spPr>
          <a:xfrm>
            <a:off x="1243584" y="3447288"/>
            <a:ext cx="585216" cy="585216"/>
          </a:xfrm>
          <a:prstGeom prst="ellipse">
            <a:avLst/>
          </a:prstGeom>
          <a:solidFill>
            <a:srgbClr val="FF3D68"/>
          </a:solidFill>
          <a:ln/>
        </p:spPr>
      </p:sp>
      <p:pic>
        <p:nvPicPr>
          <p:cNvPr id="32" name="Image 5" descr="icons/nodejs.png">    </p:cNvPr>
          <p:cNvPicPr>
            <a:picLocks noChangeAspect="1"/>
          </p:cNvPicPr>
          <p:nvPr/>
        </p:nvPicPr>
        <p:blipFill>
          <a:blip r:embed="rId6"/>
          <a:stretch>
            <a:fillRect/>
          </a:stretch>
        </p:blipFill>
        <p:spPr>
          <a:xfrm>
            <a:off x="1325514" y="3529218"/>
            <a:ext cx="421356" cy="421356"/>
          </a:xfrm>
          <a:prstGeom prst="rect">
            <a:avLst/>
          </a:prstGeom>
        </p:spPr>
      </p:pic>
      <p:sp>
        <p:nvSpPr>
          <p:cNvPr id="33" name="Text 25"/>
          <p:cNvSpPr/>
          <p:nvPr/>
        </p:nvSpPr>
        <p:spPr>
          <a:xfrm>
            <a:off x="621792" y="4123944"/>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Node.js + Express</a:t>
            </a:r>
            <a:endParaRPr lang="en-US" sz="1050" dirty="0"/>
          </a:p>
        </p:txBody>
      </p:sp>
      <p:sp>
        <p:nvSpPr>
          <p:cNvPr id="34" name="Text 26"/>
          <p:cNvSpPr/>
          <p:nvPr/>
        </p:nvSpPr>
        <p:spPr>
          <a:xfrm>
            <a:off x="621792" y="4416552"/>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Backend APIs</a:t>
            </a:r>
            <a:endParaRPr lang="en-US" sz="800" dirty="0"/>
          </a:p>
        </p:txBody>
      </p:sp>
      <p:sp>
        <p:nvSpPr>
          <p:cNvPr id="35" name="Shape 27"/>
          <p:cNvSpPr/>
          <p:nvPr/>
        </p:nvSpPr>
        <p:spPr>
          <a:xfrm>
            <a:off x="2651760" y="3300984"/>
            <a:ext cx="1975104" cy="1417320"/>
          </a:xfrm>
          <a:prstGeom prst="roundRect">
            <a:avLst>
              <a:gd name="adj" fmla="val 6452"/>
            </a:avLst>
          </a:prstGeom>
          <a:solidFill>
            <a:srgbClr val="FFFFFF"/>
          </a:solidFill>
          <a:ln w="12700">
            <a:solidFill>
              <a:srgbClr val="E4DBF5"/>
            </a:solidFill>
            <a:prstDash val="solid"/>
          </a:ln>
        </p:spPr>
      </p:sp>
      <p:sp>
        <p:nvSpPr>
          <p:cNvPr id="36" name="Shape 28"/>
          <p:cNvSpPr/>
          <p:nvPr/>
        </p:nvSpPr>
        <p:spPr>
          <a:xfrm>
            <a:off x="3346704" y="3447288"/>
            <a:ext cx="585216" cy="585216"/>
          </a:xfrm>
          <a:prstGeom prst="ellipse">
            <a:avLst/>
          </a:prstGeom>
          <a:solidFill>
            <a:srgbClr val="6C2BD9"/>
          </a:solidFill>
          <a:ln/>
        </p:spPr>
      </p:sp>
      <p:pic>
        <p:nvPicPr>
          <p:cNvPr id="37" name="Image 6" descr="icons/postman.png">    </p:cNvPr>
          <p:cNvPicPr>
            <a:picLocks noChangeAspect="1"/>
          </p:cNvPicPr>
          <p:nvPr/>
        </p:nvPicPr>
        <p:blipFill>
          <a:blip r:embed="rId7"/>
          <a:stretch>
            <a:fillRect/>
          </a:stretch>
        </p:blipFill>
        <p:spPr>
          <a:xfrm>
            <a:off x="3428634" y="3529218"/>
            <a:ext cx="421356" cy="421356"/>
          </a:xfrm>
          <a:prstGeom prst="rect">
            <a:avLst/>
          </a:prstGeom>
        </p:spPr>
      </p:pic>
      <p:sp>
        <p:nvSpPr>
          <p:cNvPr id="38" name="Text 29"/>
          <p:cNvSpPr/>
          <p:nvPr/>
        </p:nvSpPr>
        <p:spPr>
          <a:xfrm>
            <a:off x="2724912" y="4123944"/>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Postman</a:t>
            </a:r>
            <a:endParaRPr lang="en-US" sz="1050" dirty="0"/>
          </a:p>
        </p:txBody>
      </p:sp>
      <p:sp>
        <p:nvSpPr>
          <p:cNvPr id="39" name="Text 30"/>
          <p:cNvSpPr/>
          <p:nvPr/>
        </p:nvSpPr>
        <p:spPr>
          <a:xfrm>
            <a:off x="2724912" y="4416552"/>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API testing</a:t>
            </a:r>
            <a:endParaRPr lang="en-US" sz="800" dirty="0"/>
          </a:p>
        </p:txBody>
      </p:sp>
      <p:sp>
        <p:nvSpPr>
          <p:cNvPr id="40" name="Shape 31"/>
          <p:cNvSpPr/>
          <p:nvPr/>
        </p:nvSpPr>
        <p:spPr>
          <a:xfrm>
            <a:off x="4754880" y="3300984"/>
            <a:ext cx="1975104" cy="1417320"/>
          </a:xfrm>
          <a:prstGeom prst="roundRect">
            <a:avLst>
              <a:gd name="adj" fmla="val 6452"/>
            </a:avLst>
          </a:prstGeom>
          <a:solidFill>
            <a:srgbClr val="FFFFFF"/>
          </a:solidFill>
          <a:ln w="12700">
            <a:solidFill>
              <a:srgbClr val="E4DBF5"/>
            </a:solidFill>
            <a:prstDash val="solid"/>
          </a:ln>
        </p:spPr>
      </p:sp>
      <p:sp>
        <p:nvSpPr>
          <p:cNvPr id="41" name="Shape 32"/>
          <p:cNvSpPr/>
          <p:nvPr/>
        </p:nvSpPr>
        <p:spPr>
          <a:xfrm>
            <a:off x="5449824" y="3447288"/>
            <a:ext cx="585216" cy="585216"/>
          </a:xfrm>
          <a:prstGeom prst="ellipse">
            <a:avLst/>
          </a:prstGeom>
          <a:solidFill>
            <a:srgbClr val="FF3D68"/>
          </a:solidFill>
          <a:ln/>
        </p:spPr>
      </p:sp>
      <p:pic>
        <p:nvPicPr>
          <p:cNvPr id="42" name="Image 7" descr="icons/git.png">    </p:cNvPr>
          <p:cNvPicPr>
            <a:picLocks noChangeAspect="1"/>
          </p:cNvPicPr>
          <p:nvPr/>
        </p:nvPicPr>
        <p:blipFill>
          <a:blip r:embed="rId8"/>
          <a:stretch>
            <a:fillRect/>
          </a:stretch>
        </p:blipFill>
        <p:spPr>
          <a:xfrm>
            <a:off x="5531754" y="3529218"/>
            <a:ext cx="421356" cy="421356"/>
          </a:xfrm>
          <a:prstGeom prst="rect">
            <a:avLst/>
          </a:prstGeom>
        </p:spPr>
      </p:pic>
      <p:sp>
        <p:nvSpPr>
          <p:cNvPr id="43" name="Text 33"/>
          <p:cNvSpPr/>
          <p:nvPr/>
        </p:nvSpPr>
        <p:spPr>
          <a:xfrm>
            <a:off x="4828032" y="4123944"/>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Git &amp; GitHub</a:t>
            </a:r>
            <a:endParaRPr lang="en-US" sz="1050" dirty="0"/>
          </a:p>
        </p:txBody>
      </p:sp>
      <p:sp>
        <p:nvSpPr>
          <p:cNvPr id="44" name="Text 34"/>
          <p:cNvSpPr/>
          <p:nvPr/>
        </p:nvSpPr>
        <p:spPr>
          <a:xfrm>
            <a:off x="4828032" y="4416552"/>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Version control</a:t>
            </a:r>
            <a:endParaRPr lang="en-US" sz="800" dirty="0"/>
          </a:p>
        </p:txBody>
      </p:sp>
      <p:sp>
        <p:nvSpPr>
          <p:cNvPr id="45" name="Shape 35"/>
          <p:cNvSpPr/>
          <p:nvPr/>
        </p:nvSpPr>
        <p:spPr>
          <a:xfrm>
            <a:off x="6858000" y="3300984"/>
            <a:ext cx="1975104" cy="1417320"/>
          </a:xfrm>
          <a:prstGeom prst="roundRect">
            <a:avLst>
              <a:gd name="adj" fmla="val 6452"/>
            </a:avLst>
          </a:prstGeom>
          <a:solidFill>
            <a:srgbClr val="FFFFFF"/>
          </a:solidFill>
          <a:ln w="12700">
            <a:solidFill>
              <a:srgbClr val="E4DBF5"/>
            </a:solidFill>
            <a:prstDash val="solid"/>
          </a:ln>
        </p:spPr>
      </p:sp>
      <p:sp>
        <p:nvSpPr>
          <p:cNvPr id="46" name="Shape 36"/>
          <p:cNvSpPr/>
          <p:nvPr/>
        </p:nvSpPr>
        <p:spPr>
          <a:xfrm>
            <a:off x="7552944" y="3447288"/>
            <a:ext cx="585216" cy="585216"/>
          </a:xfrm>
          <a:prstGeom prst="ellipse">
            <a:avLst/>
          </a:prstGeom>
          <a:solidFill>
            <a:srgbClr val="6C2BD9"/>
          </a:solidFill>
          <a:ln/>
        </p:spPr>
      </p:sp>
      <p:pic>
        <p:nvPicPr>
          <p:cNvPr id="47" name="Image 8" descr="icons/vscode.png">    </p:cNvPr>
          <p:cNvPicPr>
            <a:picLocks noChangeAspect="1"/>
          </p:cNvPicPr>
          <p:nvPr/>
        </p:nvPicPr>
        <p:blipFill>
          <a:blip r:embed="rId9"/>
          <a:stretch>
            <a:fillRect/>
          </a:stretch>
        </p:blipFill>
        <p:spPr>
          <a:xfrm>
            <a:off x="7634874" y="3529218"/>
            <a:ext cx="421356" cy="421356"/>
          </a:xfrm>
          <a:prstGeom prst="rect">
            <a:avLst/>
          </a:prstGeom>
        </p:spPr>
      </p:pic>
      <p:sp>
        <p:nvSpPr>
          <p:cNvPr id="48" name="Text 37"/>
          <p:cNvSpPr/>
          <p:nvPr/>
        </p:nvSpPr>
        <p:spPr>
          <a:xfrm>
            <a:off x="6931152" y="4123944"/>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VS Code</a:t>
            </a:r>
            <a:endParaRPr lang="en-US" sz="1050" dirty="0"/>
          </a:p>
        </p:txBody>
      </p:sp>
      <p:sp>
        <p:nvSpPr>
          <p:cNvPr id="49" name="Text 38"/>
          <p:cNvSpPr/>
          <p:nvPr/>
        </p:nvSpPr>
        <p:spPr>
          <a:xfrm>
            <a:off x="6931152" y="4416552"/>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Backend IDE</a:t>
            </a:r>
            <a:endParaRPr lang="en-US" sz="800" dirty="0"/>
          </a:p>
        </p:txBody>
      </p:sp>
      <p:sp>
        <p:nvSpPr>
          <p:cNvPr id="50" name="Shape 39"/>
          <p:cNvSpPr/>
          <p:nvPr/>
        </p:nvSpPr>
        <p:spPr>
          <a:xfrm>
            <a:off x="8961120" y="3300984"/>
            <a:ext cx="1975104" cy="1417320"/>
          </a:xfrm>
          <a:prstGeom prst="roundRect">
            <a:avLst>
              <a:gd name="adj" fmla="val 6452"/>
            </a:avLst>
          </a:prstGeom>
          <a:solidFill>
            <a:srgbClr val="FFFFFF"/>
          </a:solidFill>
          <a:ln w="12700">
            <a:solidFill>
              <a:srgbClr val="E4DBF5"/>
            </a:solidFill>
            <a:prstDash val="solid"/>
          </a:ln>
        </p:spPr>
      </p:sp>
      <p:sp>
        <p:nvSpPr>
          <p:cNvPr id="51" name="Shape 40"/>
          <p:cNvSpPr/>
          <p:nvPr/>
        </p:nvSpPr>
        <p:spPr>
          <a:xfrm>
            <a:off x="9656064" y="3447288"/>
            <a:ext cx="585216" cy="585216"/>
          </a:xfrm>
          <a:prstGeom prst="ellipse">
            <a:avLst/>
          </a:prstGeom>
          <a:solidFill>
            <a:srgbClr val="FF3D68"/>
          </a:solidFill>
          <a:ln/>
        </p:spPr>
      </p:sp>
      <p:pic>
        <p:nvPicPr>
          <p:cNvPr id="52" name="Image 9" descr="icons/figma.png">    </p:cNvPr>
          <p:cNvPicPr>
            <a:picLocks noChangeAspect="1"/>
          </p:cNvPicPr>
          <p:nvPr/>
        </p:nvPicPr>
        <p:blipFill>
          <a:blip r:embed="rId10"/>
          <a:stretch>
            <a:fillRect/>
          </a:stretch>
        </p:blipFill>
        <p:spPr>
          <a:xfrm>
            <a:off x="9737994" y="3529218"/>
            <a:ext cx="421356" cy="421356"/>
          </a:xfrm>
          <a:prstGeom prst="rect">
            <a:avLst/>
          </a:prstGeom>
        </p:spPr>
      </p:pic>
      <p:sp>
        <p:nvSpPr>
          <p:cNvPr id="53" name="Text 41"/>
          <p:cNvSpPr/>
          <p:nvPr/>
        </p:nvSpPr>
        <p:spPr>
          <a:xfrm>
            <a:off x="9034272" y="4123944"/>
            <a:ext cx="1828800" cy="320040"/>
          </a:xfrm>
          <a:prstGeom prst="rect">
            <a:avLst/>
          </a:prstGeom>
          <a:noFill/>
          <a:ln/>
        </p:spPr>
        <p:txBody>
          <a:bodyPr wrap="square" rtlCol="0" anchor="ctr"/>
          <a:lstStyle/>
          <a:p>
            <a:pPr algn="ctr" indent="0" marL="0">
              <a:buNone/>
            </a:pPr>
            <a:r>
              <a:rPr lang="en-US" sz="1050" b="1" dirty="0">
                <a:solidFill>
                  <a:srgbClr val="231830"/>
                </a:solidFill>
                <a:latin typeface="Calibri" pitchFamily="34" charset="0"/>
                <a:ea typeface="Calibri" pitchFamily="34" charset="-122"/>
                <a:cs typeface="Calibri" pitchFamily="34" charset="-120"/>
              </a:rPr>
              <a:t>Figma</a:t>
            </a:r>
            <a:endParaRPr lang="en-US" sz="1050" dirty="0"/>
          </a:p>
        </p:txBody>
      </p:sp>
      <p:sp>
        <p:nvSpPr>
          <p:cNvPr id="54" name="Text 42"/>
          <p:cNvSpPr/>
          <p:nvPr/>
        </p:nvSpPr>
        <p:spPr>
          <a:xfrm>
            <a:off x="9034272" y="4416552"/>
            <a:ext cx="1828800" cy="27432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UI/UX design</a:t>
            </a:r>
            <a:endParaRPr lang="en-US" sz="800" dirty="0"/>
          </a:p>
        </p:txBody>
      </p:sp>
      <p:sp>
        <p:nvSpPr>
          <p:cNvPr id="55" name="Shape 43"/>
          <p:cNvSpPr/>
          <p:nvPr/>
        </p:nvSpPr>
        <p:spPr>
          <a:xfrm>
            <a:off x="548640" y="5074920"/>
            <a:ext cx="11091672" cy="1234440"/>
          </a:xfrm>
          <a:prstGeom prst="roundRect">
            <a:avLst>
              <a:gd name="adj" fmla="val 8889"/>
            </a:avLst>
          </a:prstGeom>
          <a:solidFill>
            <a:srgbClr val="1B1035"/>
          </a:solidFill>
          <a:ln/>
        </p:spPr>
      </p:sp>
      <p:sp>
        <p:nvSpPr>
          <p:cNvPr id="56" name="Text 44"/>
          <p:cNvSpPr/>
          <p:nvPr/>
        </p:nvSpPr>
        <p:spPr>
          <a:xfrm>
            <a:off x="822960" y="5230368"/>
            <a:ext cx="2743200" cy="274320"/>
          </a:xfrm>
          <a:prstGeom prst="rect">
            <a:avLst/>
          </a:prstGeom>
          <a:noFill/>
          <a:ln/>
        </p:spPr>
        <p:txBody>
          <a:bodyPr wrap="square" rtlCol="0" anchor="ctr"/>
          <a:lstStyle/>
          <a:p>
            <a:pPr indent="0" marL="0">
              <a:buNone/>
            </a:pPr>
            <a:r>
              <a:rPr lang="en-US" sz="1100" b="1" spc="150" kern="0" dirty="0">
                <a:solidFill>
                  <a:srgbClr val="C9B8F5"/>
                </a:solidFill>
                <a:latin typeface="Calibri" pitchFamily="34" charset="0"/>
                <a:ea typeface="Calibri" pitchFamily="34" charset="-122"/>
                <a:cs typeface="Calibri" pitchFamily="34" charset="-120"/>
              </a:rPr>
              <a:t>MINIMUM HARDWARE</a:t>
            </a:r>
            <a:endParaRPr lang="en-US" sz="1100" dirty="0"/>
          </a:p>
        </p:txBody>
      </p:sp>
      <p:sp>
        <p:nvSpPr>
          <p:cNvPr id="57" name="Text 45"/>
          <p:cNvSpPr/>
          <p:nvPr/>
        </p:nvSpPr>
        <p:spPr>
          <a:xfrm>
            <a:off x="822960" y="5532120"/>
            <a:ext cx="3611880" cy="640080"/>
          </a:xfrm>
          <a:prstGeom prst="rect">
            <a:avLst/>
          </a:prstGeom>
          <a:noFill/>
          <a:ln/>
        </p:spPr>
        <p:txBody>
          <a:bodyPr wrap="square" rtlCol="0" anchor="ctr"/>
          <a:lstStyle/>
          <a:p>
            <a:pPr indent="0" marL="0">
              <a:buNone/>
            </a:pPr>
            <a:r>
              <a:rPr lang="en-US" sz="1050" dirty="0">
                <a:solidFill>
                  <a:srgbClr val="E8E2F5"/>
                </a:solidFill>
                <a:latin typeface="Calibri" pitchFamily="34" charset="0"/>
                <a:ea typeface="Calibri" pitchFamily="34" charset="-122"/>
                <a:cs typeface="Calibri" pitchFamily="34" charset="-120"/>
              </a:rPr>
              <a:t>•  Dev PC: 8GB+ RAM, Intel i5 / equiv., SSD</a:t>
            </a:r>
            <a:endParaRPr lang="en-US" sz="1050" dirty="0"/>
          </a:p>
        </p:txBody>
      </p:sp>
      <p:sp>
        <p:nvSpPr>
          <p:cNvPr id="58" name="Text 46"/>
          <p:cNvSpPr/>
          <p:nvPr/>
        </p:nvSpPr>
        <p:spPr>
          <a:xfrm>
            <a:off x="4526280" y="5532120"/>
            <a:ext cx="3611880" cy="640080"/>
          </a:xfrm>
          <a:prstGeom prst="rect">
            <a:avLst/>
          </a:prstGeom>
          <a:noFill/>
          <a:ln/>
        </p:spPr>
        <p:txBody>
          <a:bodyPr wrap="square" rtlCol="0" anchor="ctr"/>
          <a:lstStyle/>
          <a:p>
            <a:pPr indent="0" marL="0">
              <a:buNone/>
            </a:pPr>
            <a:r>
              <a:rPr lang="en-US" sz="1050" dirty="0">
                <a:solidFill>
                  <a:srgbClr val="E8E2F5"/>
                </a:solidFill>
                <a:latin typeface="Calibri" pitchFamily="34" charset="0"/>
                <a:ea typeface="Calibri" pitchFamily="34" charset="-122"/>
                <a:cs typeface="Calibri" pitchFamily="34" charset="-120"/>
              </a:rPr>
              <a:t>•  Android smartphone / emulator, Android 8+</a:t>
            </a:r>
            <a:endParaRPr lang="en-US" sz="1050" dirty="0"/>
          </a:p>
        </p:txBody>
      </p:sp>
      <p:sp>
        <p:nvSpPr>
          <p:cNvPr id="59" name="Text 47"/>
          <p:cNvSpPr/>
          <p:nvPr/>
        </p:nvSpPr>
        <p:spPr>
          <a:xfrm>
            <a:off x="8229600" y="5532120"/>
            <a:ext cx="3611880" cy="640080"/>
          </a:xfrm>
          <a:prstGeom prst="rect">
            <a:avLst/>
          </a:prstGeom>
          <a:noFill/>
          <a:ln/>
        </p:spPr>
        <p:txBody>
          <a:bodyPr wrap="square" rtlCol="0" anchor="ctr"/>
          <a:lstStyle/>
          <a:p>
            <a:pPr indent="0" marL="0">
              <a:buNone/>
            </a:pPr>
            <a:r>
              <a:rPr lang="en-US" sz="1050" dirty="0">
                <a:solidFill>
                  <a:srgbClr val="E8E2F5"/>
                </a:solidFill>
                <a:latin typeface="Calibri" pitchFamily="34" charset="0"/>
                <a:ea typeface="Calibri" pitchFamily="34" charset="-122"/>
                <a:cs typeface="Calibri" pitchFamily="34" charset="-120"/>
              </a:rPr>
              <a:t>•  Stable internet for cloud DB &amp; API access</a:t>
            </a:r>
            <a:endParaRPr lang="en-US" sz="1050" dirty="0"/>
          </a:p>
        </p:txBody>
      </p:sp>
      <p:sp>
        <p:nvSpPr>
          <p:cNvPr id="60" name="Text 48"/>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6580"/>
                </a:solidFill>
                <a:latin typeface="Calibri" pitchFamily="34" charset="0"/>
                <a:ea typeface="Calibri" pitchFamily="34" charset="-122"/>
                <a:cs typeface="Calibri" pitchFamily="34" charset="-120"/>
              </a:rPr>
              <a:t>4</a:t>
            </a:r>
            <a:endParaRPr lang="en-US" sz="1000" dirty="0"/>
          </a:p>
        </p:txBody>
      </p:sp>
      <p:sp>
        <p:nvSpPr>
          <p:cNvPr id="61" name="Text 49"/>
          <p:cNvSpPr/>
          <p:nvPr/>
        </p:nvSpPr>
        <p:spPr>
          <a:xfrm>
            <a:off x="457200" y="6400800"/>
            <a:ext cx="7315200" cy="274320"/>
          </a:xfrm>
          <a:prstGeom prst="rect">
            <a:avLst/>
          </a:prstGeom>
          <a:noFill/>
          <a:ln/>
        </p:spPr>
        <p:txBody>
          <a:bodyPr wrap="square" rtlCol="0" anchor="ctr"/>
          <a:lstStyle/>
          <a:p>
            <a:pPr algn="l" indent="0" marL="0">
              <a:buNone/>
            </a:pPr>
            <a:r>
              <a:rPr lang="en-US" sz="900" dirty="0">
                <a:solidFill>
                  <a:srgbClr val="B9AFCF"/>
                </a:solidFill>
                <a:latin typeface="Calibri" pitchFamily="34" charset="0"/>
                <a:ea typeface="Calibri" pitchFamily="34" charset="-122"/>
                <a:cs typeface="Calibri" pitchFamily="34" charset="-120"/>
              </a:rPr>
              <a:t>Media &amp; Entertainment Subscriber Self-Service App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FC"/>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indent="0" marL="0">
              <a:buNone/>
            </a:pPr>
            <a:r>
              <a:rPr lang="en-US" sz="3200" b="1" dirty="0">
                <a:solidFill>
                  <a:srgbClr val="231830"/>
                </a:solidFill>
                <a:latin typeface="Cambria" pitchFamily="34" charset="0"/>
                <a:ea typeface="Cambria" pitchFamily="34" charset="-122"/>
                <a:cs typeface="Cambria" pitchFamily="34" charset="-120"/>
              </a:rPr>
              <a:t>Methodology</a:t>
            </a:r>
            <a:endParaRPr lang="en-US" sz="3200" dirty="0"/>
          </a:p>
        </p:txBody>
      </p:sp>
      <p:sp>
        <p:nvSpPr>
          <p:cNvPr id="3" name="Shape 1"/>
          <p:cNvSpPr/>
          <p:nvPr/>
        </p:nvSpPr>
        <p:spPr>
          <a:xfrm>
            <a:off x="548640" y="1143000"/>
            <a:ext cx="502920" cy="82296"/>
          </a:xfrm>
          <a:prstGeom prst="roundRect">
            <a:avLst>
              <a:gd name="adj" fmla="val 44444"/>
            </a:avLst>
          </a:prstGeom>
          <a:solidFill>
            <a:srgbClr val="FF3D68"/>
          </a:solidFill>
          <a:ln/>
        </p:spPr>
      </p:sp>
      <p:sp>
        <p:nvSpPr>
          <p:cNvPr id="4" name="Text 2"/>
          <p:cNvSpPr/>
          <p:nvPr/>
        </p:nvSpPr>
        <p:spPr>
          <a:xfrm>
            <a:off x="548640" y="1280160"/>
            <a:ext cx="10058400" cy="365760"/>
          </a:xfrm>
          <a:prstGeom prst="rect">
            <a:avLst/>
          </a:prstGeom>
          <a:noFill/>
          <a:ln/>
        </p:spPr>
        <p:txBody>
          <a:bodyPr wrap="square" rtlCol="0" anchor="ctr"/>
          <a:lstStyle/>
          <a:p>
            <a:pPr indent="0" marL="0">
              <a:buNone/>
            </a:pPr>
            <a:r>
              <a:rPr lang="en-US" sz="1300" i="1" dirty="0">
                <a:solidFill>
                  <a:srgbClr val="6E6580"/>
                </a:solidFill>
                <a:latin typeface="Calibri" pitchFamily="34" charset="0"/>
                <a:ea typeface="Calibri" pitchFamily="34" charset="-122"/>
                <a:cs typeface="Calibri" pitchFamily="34" charset="-120"/>
              </a:rPr>
              <a:t>A six-stage development flow, from requirement analysis to deployment.</a:t>
            </a:r>
            <a:endParaRPr lang="en-US" sz="1300" dirty="0"/>
          </a:p>
        </p:txBody>
      </p:sp>
      <p:sp>
        <p:nvSpPr>
          <p:cNvPr id="5" name="Shape 3"/>
          <p:cNvSpPr/>
          <p:nvPr/>
        </p:nvSpPr>
        <p:spPr>
          <a:xfrm>
            <a:off x="6766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6" name="Shape 4"/>
          <p:cNvSpPr/>
          <p:nvPr/>
        </p:nvSpPr>
        <p:spPr>
          <a:xfrm>
            <a:off x="2002536" y="2194560"/>
            <a:ext cx="365760" cy="365760"/>
          </a:xfrm>
          <a:prstGeom prst="ellipse">
            <a:avLst/>
          </a:prstGeom>
          <a:solidFill>
            <a:srgbClr val="1B1035"/>
          </a:solidFill>
          <a:ln w="19050">
            <a:solidFill>
              <a:srgbClr val="FFFFFF"/>
            </a:solidFill>
            <a:prstDash val="solid"/>
          </a:ln>
        </p:spPr>
      </p:sp>
      <p:sp>
        <p:nvSpPr>
          <p:cNvPr id="7" name="Text 5"/>
          <p:cNvSpPr/>
          <p:nvPr/>
        </p:nvSpPr>
        <p:spPr>
          <a:xfrm>
            <a:off x="20025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1202436" y="2532888"/>
            <a:ext cx="640080" cy="640080"/>
          </a:xfrm>
          <a:prstGeom prst="ellipse">
            <a:avLst/>
          </a:prstGeom>
          <a:solidFill>
            <a:srgbClr val="6C2BD9"/>
          </a:solidFill>
          <a:ln/>
        </p:spPr>
      </p:sp>
      <p:pic>
        <p:nvPicPr>
          <p:cNvPr id="9" name="Image 0" descr="icons/search.png">    </p:cNvPr>
          <p:cNvPicPr>
            <a:picLocks noChangeAspect="1"/>
          </p:cNvPicPr>
          <p:nvPr/>
        </p:nvPicPr>
        <p:blipFill>
          <a:blip r:embed="rId1"/>
          <a:stretch>
            <a:fillRect/>
          </a:stretch>
        </p:blipFill>
        <p:spPr>
          <a:xfrm>
            <a:off x="1292047" y="2622499"/>
            <a:ext cx="460858" cy="460858"/>
          </a:xfrm>
          <a:prstGeom prst="rect">
            <a:avLst/>
          </a:prstGeom>
        </p:spPr>
      </p:pic>
      <p:sp>
        <p:nvSpPr>
          <p:cNvPr id="10" name="Text 7"/>
          <p:cNvSpPr/>
          <p:nvPr/>
        </p:nvSpPr>
        <p:spPr>
          <a:xfrm>
            <a:off x="7498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Requirement</a:t>
            </a:r>
            <a:endParaRPr lang="en-US" sz="1150" dirty="0"/>
          </a:p>
          <a:p>
            <a:pPr algn="ctr" indent="0" marL="0">
              <a:buNone/>
            </a:pPr>
            <a:r>
              <a:rPr lang="en-US" sz="1150" b="1" dirty="0">
                <a:solidFill>
                  <a:srgbClr val="231830"/>
                </a:solidFill>
                <a:latin typeface="Calibri" pitchFamily="34" charset="0"/>
                <a:ea typeface="Calibri" pitchFamily="34" charset="-122"/>
                <a:cs typeface="Calibri" pitchFamily="34" charset="-120"/>
              </a:rPr>
              <a:t>Analysis</a:t>
            </a:r>
            <a:endParaRPr lang="en-US" sz="1150" dirty="0"/>
          </a:p>
        </p:txBody>
      </p:sp>
      <p:sp>
        <p:nvSpPr>
          <p:cNvPr id="11" name="Text 8"/>
          <p:cNvSpPr/>
          <p:nvPr/>
        </p:nvSpPr>
        <p:spPr>
          <a:xfrm>
            <a:off x="7680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Identify subscriber pain points &amp; data needs</a:t>
            </a:r>
            <a:endParaRPr lang="en-US" sz="800" dirty="0"/>
          </a:p>
        </p:txBody>
      </p:sp>
      <p:sp>
        <p:nvSpPr>
          <p:cNvPr id="12" name="Shape 9"/>
          <p:cNvSpPr/>
          <p:nvPr/>
        </p:nvSpPr>
        <p:spPr>
          <a:xfrm>
            <a:off x="2377440" y="3214116"/>
            <a:ext cx="128016" cy="201168"/>
          </a:xfrm>
          <a:prstGeom prst="rightArrow">
            <a:avLst/>
          </a:prstGeom>
          <a:solidFill>
            <a:srgbClr val="C9B8F5"/>
          </a:solidFill>
          <a:ln/>
        </p:spPr>
      </p:sp>
      <p:sp>
        <p:nvSpPr>
          <p:cNvPr id="13" name="Shape 10"/>
          <p:cNvSpPr/>
          <p:nvPr/>
        </p:nvSpPr>
        <p:spPr>
          <a:xfrm>
            <a:off x="25054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14" name="Shape 11"/>
          <p:cNvSpPr/>
          <p:nvPr/>
        </p:nvSpPr>
        <p:spPr>
          <a:xfrm>
            <a:off x="3831336" y="2194560"/>
            <a:ext cx="365760" cy="365760"/>
          </a:xfrm>
          <a:prstGeom prst="ellipse">
            <a:avLst/>
          </a:prstGeom>
          <a:solidFill>
            <a:srgbClr val="1B1035"/>
          </a:solidFill>
          <a:ln w="19050">
            <a:solidFill>
              <a:srgbClr val="FFFFFF"/>
            </a:solidFill>
            <a:prstDash val="solid"/>
          </a:ln>
        </p:spPr>
      </p:sp>
      <p:sp>
        <p:nvSpPr>
          <p:cNvPr id="15" name="Text 12"/>
          <p:cNvSpPr/>
          <p:nvPr/>
        </p:nvSpPr>
        <p:spPr>
          <a:xfrm>
            <a:off x="38313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Shape 13"/>
          <p:cNvSpPr/>
          <p:nvPr/>
        </p:nvSpPr>
        <p:spPr>
          <a:xfrm>
            <a:off x="3031236" y="2532888"/>
            <a:ext cx="640080" cy="640080"/>
          </a:xfrm>
          <a:prstGeom prst="ellipse">
            <a:avLst/>
          </a:prstGeom>
          <a:solidFill>
            <a:srgbClr val="FF3D68"/>
          </a:solidFill>
          <a:ln/>
        </p:spPr>
      </p:sp>
      <p:pic>
        <p:nvPicPr>
          <p:cNvPr id="17" name="Image 1" descr="icons/design.png">    </p:cNvPr>
          <p:cNvPicPr>
            <a:picLocks noChangeAspect="1"/>
          </p:cNvPicPr>
          <p:nvPr/>
        </p:nvPicPr>
        <p:blipFill>
          <a:blip r:embed="rId2"/>
          <a:stretch>
            <a:fillRect/>
          </a:stretch>
        </p:blipFill>
        <p:spPr>
          <a:xfrm>
            <a:off x="3120847" y="2622499"/>
            <a:ext cx="460858" cy="460858"/>
          </a:xfrm>
          <a:prstGeom prst="rect">
            <a:avLst/>
          </a:prstGeom>
        </p:spPr>
      </p:pic>
      <p:sp>
        <p:nvSpPr>
          <p:cNvPr id="18" name="Text 14"/>
          <p:cNvSpPr/>
          <p:nvPr/>
        </p:nvSpPr>
        <p:spPr>
          <a:xfrm>
            <a:off x="25786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System &amp;</a:t>
            </a:r>
            <a:endParaRPr lang="en-US" sz="1150" dirty="0"/>
          </a:p>
          <a:p>
            <a:pPr algn="ctr" indent="0" marL="0">
              <a:buNone/>
            </a:pPr>
            <a:r>
              <a:rPr lang="en-US" sz="1150" b="1" dirty="0">
                <a:solidFill>
                  <a:srgbClr val="231830"/>
                </a:solidFill>
                <a:latin typeface="Calibri" pitchFamily="34" charset="0"/>
                <a:ea typeface="Calibri" pitchFamily="34" charset="-122"/>
                <a:cs typeface="Calibri" pitchFamily="34" charset="-120"/>
              </a:rPr>
              <a:t>DB Design</a:t>
            </a:r>
            <a:endParaRPr lang="en-US" sz="1150" dirty="0"/>
          </a:p>
        </p:txBody>
      </p:sp>
      <p:sp>
        <p:nvSpPr>
          <p:cNvPr id="19" name="Text 15"/>
          <p:cNvSpPr/>
          <p:nvPr/>
        </p:nvSpPr>
        <p:spPr>
          <a:xfrm>
            <a:off x="25968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ER diagrams, normalization, UI wireframes</a:t>
            </a:r>
            <a:endParaRPr lang="en-US" sz="800" dirty="0"/>
          </a:p>
        </p:txBody>
      </p:sp>
      <p:sp>
        <p:nvSpPr>
          <p:cNvPr id="20" name="Shape 16"/>
          <p:cNvSpPr/>
          <p:nvPr/>
        </p:nvSpPr>
        <p:spPr>
          <a:xfrm>
            <a:off x="4206240" y="3214116"/>
            <a:ext cx="128016" cy="201168"/>
          </a:xfrm>
          <a:prstGeom prst="rightArrow">
            <a:avLst/>
          </a:prstGeom>
          <a:solidFill>
            <a:srgbClr val="C9B8F5"/>
          </a:solidFill>
          <a:ln/>
        </p:spPr>
      </p:sp>
      <p:sp>
        <p:nvSpPr>
          <p:cNvPr id="21" name="Shape 17"/>
          <p:cNvSpPr/>
          <p:nvPr/>
        </p:nvSpPr>
        <p:spPr>
          <a:xfrm>
            <a:off x="43342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22" name="Shape 18"/>
          <p:cNvSpPr/>
          <p:nvPr/>
        </p:nvSpPr>
        <p:spPr>
          <a:xfrm>
            <a:off x="5660136" y="2194560"/>
            <a:ext cx="365760" cy="365760"/>
          </a:xfrm>
          <a:prstGeom prst="ellipse">
            <a:avLst/>
          </a:prstGeom>
          <a:solidFill>
            <a:srgbClr val="1B1035"/>
          </a:solidFill>
          <a:ln w="19050">
            <a:solidFill>
              <a:srgbClr val="FFFFFF"/>
            </a:solidFill>
            <a:prstDash val="solid"/>
          </a:ln>
        </p:spPr>
      </p:sp>
      <p:sp>
        <p:nvSpPr>
          <p:cNvPr id="23" name="Text 19"/>
          <p:cNvSpPr/>
          <p:nvPr/>
        </p:nvSpPr>
        <p:spPr>
          <a:xfrm>
            <a:off x="56601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Shape 20"/>
          <p:cNvSpPr/>
          <p:nvPr/>
        </p:nvSpPr>
        <p:spPr>
          <a:xfrm>
            <a:off x="4860036" y="2532888"/>
            <a:ext cx="640080" cy="640080"/>
          </a:xfrm>
          <a:prstGeom prst="ellipse">
            <a:avLst/>
          </a:prstGeom>
          <a:solidFill>
            <a:srgbClr val="6C2BD9"/>
          </a:solidFill>
          <a:ln/>
        </p:spPr>
      </p:sp>
      <p:pic>
        <p:nvPicPr>
          <p:cNvPr id="25" name="Image 2" descr="icons/layer.png">    </p:cNvPr>
          <p:cNvPicPr>
            <a:picLocks noChangeAspect="1"/>
          </p:cNvPicPr>
          <p:nvPr/>
        </p:nvPicPr>
        <p:blipFill>
          <a:blip r:embed="rId3"/>
          <a:stretch>
            <a:fillRect/>
          </a:stretch>
        </p:blipFill>
        <p:spPr>
          <a:xfrm>
            <a:off x="4949647" y="2622499"/>
            <a:ext cx="460858" cy="460858"/>
          </a:xfrm>
          <a:prstGeom prst="rect">
            <a:avLst/>
          </a:prstGeom>
        </p:spPr>
      </p:pic>
      <p:sp>
        <p:nvSpPr>
          <p:cNvPr id="26" name="Text 21"/>
          <p:cNvSpPr/>
          <p:nvPr/>
        </p:nvSpPr>
        <p:spPr>
          <a:xfrm>
            <a:off x="44074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Database</a:t>
            </a:r>
            <a:endParaRPr lang="en-US" sz="1150" dirty="0"/>
          </a:p>
          <a:p>
            <a:pPr algn="ctr" indent="0" marL="0">
              <a:buNone/>
            </a:pPr>
            <a:r>
              <a:rPr lang="en-US" sz="1150" b="1" dirty="0">
                <a:solidFill>
                  <a:srgbClr val="231830"/>
                </a:solidFill>
                <a:latin typeface="Calibri" pitchFamily="34" charset="0"/>
                <a:ea typeface="Calibri" pitchFamily="34" charset="-122"/>
                <a:cs typeface="Calibri" pitchFamily="34" charset="-120"/>
              </a:rPr>
              <a:t>Setup</a:t>
            </a:r>
            <a:endParaRPr lang="en-US" sz="1150" dirty="0"/>
          </a:p>
        </p:txBody>
      </p:sp>
      <p:sp>
        <p:nvSpPr>
          <p:cNvPr id="27" name="Text 22"/>
          <p:cNvSpPr/>
          <p:nvPr/>
        </p:nvSpPr>
        <p:spPr>
          <a:xfrm>
            <a:off x="44256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MySQL schema: users, plans, payments, content</a:t>
            </a:r>
            <a:endParaRPr lang="en-US" sz="800" dirty="0"/>
          </a:p>
        </p:txBody>
      </p:sp>
      <p:sp>
        <p:nvSpPr>
          <p:cNvPr id="28" name="Shape 23"/>
          <p:cNvSpPr/>
          <p:nvPr/>
        </p:nvSpPr>
        <p:spPr>
          <a:xfrm>
            <a:off x="6035040" y="3214116"/>
            <a:ext cx="128016" cy="201168"/>
          </a:xfrm>
          <a:prstGeom prst="rightArrow">
            <a:avLst/>
          </a:prstGeom>
          <a:solidFill>
            <a:srgbClr val="C9B8F5"/>
          </a:solidFill>
          <a:ln/>
        </p:spPr>
      </p:sp>
      <p:sp>
        <p:nvSpPr>
          <p:cNvPr id="29" name="Shape 24"/>
          <p:cNvSpPr/>
          <p:nvPr/>
        </p:nvSpPr>
        <p:spPr>
          <a:xfrm>
            <a:off x="61630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30" name="Shape 25"/>
          <p:cNvSpPr/>
          <p:nvPr/>
        </p:nvSpPr>
        <p:spPr>
          <a:xfrm>
            <a:off x="7488936" y="2194560"/>
            <a:ext cx="365760" cy="365760"/>
          </a:xfrm>
          <a:prstGeom prst="ellipse">
            <a:avLst/>
          </a:prstGeom>
          <a:solidFill>
            <a:srgbClr val="1B1035"/>
          </a:solidFill>
          <a:ln w="19050">
            <a:solidFill>
              <a:srgbClr val="FFFFFF"/>
            </a:solidFill>
            <a:prstDash val="solid"/>
          </a:ln>
        </p:spPr>
      </p:sp>
      <p:sp>
        <p:nvSpPr>
          <p:cNvPr id="31" name="Text 26"/>
          <p:cNvSpPr/>
          <p:nvPr/>
        </p:nvSpPr>
        <p:spPr>
          <a:xfrm>
            <a:off x="74889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Shape 27"/>
          <p:cNvSpPr/>
          <p:nvPr/>
        </p:nvSpPr>
        <p:spPr>
          <a:xfrm>
            <a:off x="6688836" y="2532888"/>
            <a:ext cx="640080" cy="640080"/>
          </a:xfrm>
          <a:prstGeom prst="ellipse">
            <a:avLst/>
          </a:prstGeom>
          <a:solidFill>
            <a:srgbClr val="FF3D68"/>
          </a:solidFill>
          <a:ln/>
        </p:spPr>
      </p:sp>
      <p:pic>
        <p:nvPicPr>
          <p:cNvPr id="33" name="Image 3" descr="icons/code.png">    </p:cNvPr>
          <p:cNvPicPr>
            <a:picLocks noChangeAspect="1"/>
          </p:cNvPicPr>
          <p:nvPr/>
        </p:nvPicPr>
        <p:blipFill>
          <a:blip r:embed="rId4"/>
          <a:stretch>
            <a:fillRect/>
          </a:stretch>
        </p:blipFill>
        <p:spPr>
          <a:xfrm>
            <a:off x="6778447" y="2622499"/>
            <a:ext cx="460858" cy="460858"/>
          </a:xfrm>
          <a:prstGeom prst="rect">
            <a:avLst/>
          </a:prstGeom>
        </p:spPr>
      </p:pic>
      <p:sp>
        <p:nvSpPr>
          <p:cNvPr id="34" name="Text 28"/>
          <p:cNvSpPr/>
          <p:nvPr/>
        </p:nvSpPr>
        <p:spPr>
          <a:xfrm>
            <a:off x="62362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App</a:t>
            </a:r>
            <a:endParaRPr lang="en-US" sz="1150" dirty="0"/>
          </a:p>
          <a:p>
            <a:pPr algn="ctr" indent="0" marL="0">
              <a:buNone/>
            </a:pPr>
            <a:r>
              <a:rPr lang="en-US" sz="1150" b="1" dirty="0">
                <a:solidFill>
                  <a:srgbClr val="231830"/>
                </a:solidFill>
                <a:latin typeface="Calibri" pitchFamily="34" charset="0"/>
                <a:ea typeface="Calibri" pitchFamily="34" charset="-122"/>
                <a:cs typeface="Calibri" pitchFamily="34" charset="-120"/>
              </a:rPr>
              <a:t>Development</a:t>
            </a:r>
            <a:endParaRPr lang="en-US" sz="1150" dirty="0"/>
          </a:p>
        </p:txBody>
      </p:sp>
      <p:sp>
        <p:nvSpPr>
          <p:cNvPr id="35" name="Text 29"/>
          <p:cNvSpPr/>
          <p:nvPr/>
        </p:nvSpPr>
        <p:spPr>
          <a:xfrm>
            <a:off x="62544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Android UI + Node.js/Express APIs</a:t>
            </a:r>
            <a:endParaRPr lang="en-US" sz="800" dirty="0"/>
          </a:p>
        </p:txBody>
      </p:sp>
      <p:sp>
        <p:nvSpPr>
          <p:cNvPr id="36" name="Shape 30"/>
          <p:cNvSpPr/>
          <p:nvPr/>
        </p:nvSpPr>
        <p:spPr>
          <a:xfrm>
            <a:off x="7863840" y="3214116"/>
            <a:ext cx="128016" cy="201168"/>
          </a:xfrm>
          <a:prstGeom prst="rightArrow">
            <a:avLst/>
          </a:prstGeom>
          <a:solidFill>
            <a:srgbClr val="C9B8F5"/>
          </a:solidFill>
          <a:ln/>
        </p:spPr>
      </p:sp>
      <p:sp>
        <p:nvSpPr>
          <p:cNvPr id="37" name="Shape 31"/>
          <p:cNvSpPr/>
          <p:nvPr/>
        </p:nvSpPr>
        <p:spPr>
          <a:xfrm>
            <a:off x="79918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38" name="Shape 32"/>
          <p:cNvSpPr/>
          <p:nvPr/>
        </p:nvSpPr>
        <p:spPr>
          <a:xfrm>
            <a:off x="9317736" y="2194560"/>
            <a:ext cx="365760" cy="365760"/>
          </a:xfrm>
          <a:prstGeom prst="ellipse">
            <a:avLst/>
          </a:prstGeom>
          <a:solidFill>
            <a:srgbClr val="1B1035"/>
          </a:solidFill>
          <a:ln w="19050">
            <a:solidFill>
              <a:srgbClr val="FFFFFF"/>
            </a:solidFill>
            <a:prstDash val="solid"/>
          </a:ln>
        </p:spPr>
      </p:sp>
      <p:sp>
        <p:nvSpPr>
          <p:cNvPr id="39" name="Text 33"/>
          <p:cNvSpPr/>
          <p:nvPr/>
        </p:nvSpPr>
        <p:spPr>
          <a:xfrm>
            <a:off x="93177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0" name="Shape 34"/>
          <p:cNvSpPr/>
          <p:nvPr/>
        </p:nvSpPr>
        <p:spPr>
          <a:xfrm>
            <a:off x="8517636" y="2532888"/>
            <a:ext cx="640080" cy="640080"/>
          </a:xfrm>
          <a:prstGeom prst="ellipse">
            <a:avLst/>
          </a:prstGeom>
          <a:solidFill>
            <a:srgbClr val="6C2BD9"/>
          </a:solidFill>
          <a:ln/>
        </p:spPr>
      </p:sp>
      <p:pic>
        <p:nvPicPr>
          <p:cNvPr id="41" name="Image 4" descr="icons/vial.png">    </p:cNvPr>
          <p:cNvPicPr>
            <a:picLocks noChangeAspect="1"/>
          </p:cNvPicPr>
          <p:nvPr/>
        </p:nvPicPr>
        <p:blipFill>
          <a:blip r:embed="rId5"/>
          <a:stretch>
            <a:fillRect/>
          </a:stretch>
        </p:blipFill>
        <p:spPr>
          <a:xfrm>
            <a:off x="8607247" y="2622499"/>
            <a:ext cx="460858" cy="460858"/>
          </a:xfrm>
          <a:prstGeom prst="rect">
            <a:avLst/>
          </a:prstGeom>
        </p:spPr>
      </p:pic>
      <p:sp>
        <p:nvSpPr>
          <p:cNvPr id="42" name="Text 35"/>
          <p:cNvSpPr/>
          <p:nvPr/>
        </p:nvSpPr>
        <p:spPr>
          <a:xfrm>
            <a:off x="80650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Testing</a:t>
            </a:r>
            <a:endParaRPr lang="en-US" sz="1150" dirty="0"/>
          </a:p>
        </p:txBody>
      </p:sp>
      <p:sp>
        <p:nvSpPr>
          <p:cNvPr id="43" name="Text 36"/>
          <p:cNvSpPr/>
          <p:nvPr/>
        </p:nvSpPr>
        <p:spPr>
          <a:xfrm>
            <a:off x="80832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Postman API tests, functional &amp; data checks</a:t>
            </a:r>
            <a:endParaRPr lang="en-US" sz="800" dirty="0"/>
          </a:p>
        </p:txBody>
      </p:sp>
      <p:sp>
        <p:nvSpPr>
          <p:cNvPr id="44" name="Shape 37"/>
          <p:cNvSpPr/>
          <p:nvPr/>
        </p:nvSpPr>
        <p:spPr>
          <a:xfrm>
            <a:off x="9692640" y="3214116"/>
            <a:ext cx="128016" cy="201168"/>
          </a:xfrm>
          <a:prstGeom prst="rightArrow">
            <a:avLst/>
          </a:prstGeom>
          <a:solidFill>
            <a:srgbClr val="C9B8F5"/>
          </a:solidFill>
          <a:ln/>
        </p:spPr>
      </p:sp>
      <p:sp>
        <p:nvSpPr>
          <p:cNvPr id="45" name="Shape 38"/>
          <p:cNvSpPr/>
          <p:nvPr/>
        </p:nvSpPr>
        <p:spPr>
          <a:xfrm>
            <a:off x="9820656" y="2331720"/>
            <a:ext cx="1691640" cy="1965960"/>
          </a:xfrm>
          <a:prstGeom prst="roundRect">
            <a:avLst>
              <a:gd name="adj" fmla="val 6486"/>
            </a:avLst>
          </a:prstGeom>
          <a:solidFill>
            <a:srgbClr val="FFFFFF"/>
          </a:solidFill>
          <a:ln w="12700">
            <a:solidFill>
              <a:srgbClr val="E4DBF5"/>
            </a:solidFill>
            <a:prstDash val="solid"/>
          </a:ln>
          <a:effectLst>
            <a:outerShdw sx="100000" sy="100000" kx="0" ky="0" algn="bl" rotWithShape="0" blurRad="76200" dist="25400" dir="5400000">
              <a:srgbClr val="6C2BD9">
                <a:alpha val="10000"/>
              </a:srgbClr>
            </a:outerShdw>
          </a:effectLst>
        </p:spPr>
      </p:sp>
      <p:sp>
        <p:nvSpPr>
          <p:cNvPr id="46" name="Shape 39"/>
          <p:cNvSpPr/>
          <p:nvPr/>
        </p:nvSpPr>
        <p:spPr>
          <a:xfrm>
            <a:off x="11146536" y="2194560"/>
            <a:ext cx="365760" cy="365760"/>
          </a:xfrm>
          <a:prstGeom prst="ellipse">
            <a:avLst/>
          </a:prstGeom>
          <a:solidFill>
            <a:srgbClr val="1B1035"/>
          </a:solidFill>
          <a:ln w="19050">
            <a:solidFill>
              <a:srgbClr val="FFFFFF"/>
            </a:solidFill>
            <a:prstDash val="solid"/>
          </a:ln>
        </p:spPr>
      </p:sp>
      <p:sp>
        <p:nvSpPr>
          <p:cNvPr id="47" name="Text 40"/>
          <p:cNvSpPr/>
          <p:nvPr/>
        </p:nvSpPr>
        <p:spPr>
          <a:xfrm>
            <a:off x="11146536" y="21854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8" name="Shape 41"/>
          <p:cNvSpPr/>
          <p:nvPr/>
        </p:nvSpPr>
        <p:spPr>
          <a:xfrm>
            <a:off x="10346436" y="2532888"/>
            <a:ext cx="640080" cy="640080"/>
          </a:xfrm>
          <a:prstGeom prst="ellipse">
            <a:avLst/>
          </a:prstGeom>
          <a:solidFill>
            <a:srgbClr val="FF3D68"/>
          </a:solidFill>
          <a:ln/>
        </p:spPr>
      </p:sp>
      <p:pic>
        <p:nvPicPr>
          <p:cNvPr id="49" name="Image 5" descr="icons/rocket.png">    </p:cNvPr>
          <p:cNvPicPr>
            <a:picLocks noChangeAspect="1"/>
          </p:cNvPicPr>
          <p:nvPr/>
        </p:nvPicPr>
        <p:blipFill>
          <a:blip r:embed="rId6"/>
          <a:stretch>
            <a:fillRect/>
          </a:stretch>
        </p:blipFill>
        <p:spPr>
          <a:xfrm>
            <a:off x="10436047" y="2622499"/>
            <a:ext cx="460858" cy="460858"/>
          </a:xfrm>
          <a:prstGeom prst="rect">
            <a:avLst/>
          </a:prstGeom>
        </p:spPr>
      </p:pic>
      <p:sp>
        <p:nvSpPr>
          <p:cNvPr id="50" name="Text 42"/>
          <p:cNvSpPr/>
          <p:nvPr/>
        </p:nvSpPr>
        <p:spPr>
          <a:xfrm>
            <a:off x="9893808" y="3246120"/>
            <a:ext cx="1545336" cy="457200"/>
          </a:xfrm>
          <a:prstGeom prst="rect">
            <a:avLst/>
          </a:prstGeom>
          <a:noFill/>
          <a:ln/>
        </p:spPr>
        <p:txBody>
          <a:bodyPr wrap="square" rtlCol="0" anchor="ctr"/>
          <a:lstStyle/>
          <a:p>
            <a:pPr algn="ctr" indent="0" marL="0">
              <a:buNone/>
            </a:pPr>
            <a:r>
              <a:rPr lang="en-US" sz="1150" b="1" dirty="0">
                <a:solidFill>
                  <a:srgbClr val="231830"/>
                </a:solidFill>
                <a:latin typeface="Calibri" pitchFamily="34" charset="0"/>
                <a:ea typeface="Calibri" pitchFamily="34" charset="-122"/>
                <a:cs typeface="Calibri" pitchFamily="34" charset="-120"/>
              </a:rPr>
              <a:t>Deployment</a:t>
            </a:r>
            <a:endParaRPr lang="en-US" sz="1150" dirty="0"/>
          </a:p>
        </p:txBody>
      </p:sp>
      <p:sp>
        <p:nvSpPr>
          <p:cNvPr id="51" name="Text 43"/>
          <p:cNvSpPr/>
          <p:nvPr/>
        </p:nvSpPr>
        <p:spPr>
          <a:xfrm>
            <a:off x="9912096" y="3703320"/>
            <a:ext cx="1508760" cy="594360"/>
          </a:xfrm>
          <a:prstGeom prst="rect">
            <a:avLst/>
          </a:prstGeom>
          <a:noFill/>
          <a:ln/>
        </p:spPr>
        <p:txBody>
          <a:bodyPr wrap="square" rtlCol="0" anchor="ctr"/>
          <a:lstStyle/>
          <a:p>
            <a:pPr algn="ctr" indent="0" marL="0">
              <a:buNone/>
            </a:pPr>
            <a:r>
              <a:rPr lang="en-US" sz="800" dirty="0">
                <a:solidFill>
                  <a:srgbClr val="6E6580"/>
                </a:solidFill>
                <a:latin typeface="Calibri" pitchFamily="34" charset="0"/>
                <a:ea typeface="Calibri" pitchFamily="34" charset="-122"/>
                <a:cs typeface="Calibri" pitchFamily="34" charset="-120"/>
              </a:rPr>
              <a:t>Release app, connect live DB &amp; Firebase</a:t>
            </a:r>
            <a:endParaRPr lang="en-US" sz="800" dirty="0"/>
          </a:p>
        </p:txBody>
      </p:sp>
      <p:sp>
        <p:nvSpPr>
          <p:cNvPr id="52" name="Shape 44"/>
          <p:cNvSpPr/>
          <p:nvPr/>
        </p:nvSpPr>
        <p:spPr>
          <a:xfrm>
            <a:off x="548640" y="4709160"/>
            <a:ext cx="11091672" cy="1463040"/>
          </a:xfrm>
          <a:prstGeom prst="roundRect">
            <a:avLst>
              <a:gd name="adj" fmla="val 7500"/>
            </a:avLst>
          </a:prstGeom>
          <a:solidFill>
            <a:srgbClr val="1B1035"/>
          </a:solidFill>
          <a:ln/>
        </p:spPr>
      </p:sp>
      <p:sp>
        <p:nvSpPr>
          <p:cNvPr id="53" name="Text 45"/>
          <p:cNvSpPr/>
          <p:nvPr/>
        </p:nvSpPr>
        <p:spPr>
          <a:xfrm>
            <a:off x="822960" y="4864608"/>
            <a:ext cx="5486400" cy="274320"/>
          </a:xfrm>
          <a:prstGeom prst="rect">
            <a:avLst/>
          </a:prstGeom>
          <a:noFill/>
          <a:ln/>
        </p:spPr>
        <p:txBody>
          <a:bodyPr wrap="square" rtlCol="0" anchor="ctr"/>
          <a:lstStyle/>
          <a:p>
            <a:pPr indent="0" marL="0">
              <a:buNone/>
            </a:pPr>
            <a:r>
              <a:rPr lang="en-US" sz="1100" b="1" spc="150" kern="0" dirty="0">
                <a:solidFill>
                  <a:srgbClr val="C9B8F5"/>
                </a:solidFill>
                <a:latin typeface="Calibri" pitchFamily="34" charset="0"/>
                <a:ea typeface="Calibri" pitchFamily="34" charset="-122"/>
                <a:cs typeface="Calibri" pitchFamily="34" charset="-120"/>
              </a:rPr>
              <a:t>KEY DATABASE CONCEPTS APPLIED</a:t>
            </a:r>
            <a:endParaRPr lang="en-US" sz="1100" dirty="0"/>
          </a:p>
        </p:txBody>
      </p:sp>
      <p:sp>
        <p:nvSpPr>
          <p:cNvPr id="54" name="Text 46"/>
          <p:cNvSpPr/>
          <p:nvPr/>
        </p:nvSpPr>
        <p:spPr>
          <a:xfrm>
            <a:off x="822960" y="5193792"/>
            <a:ext cx="10515600" cy="822960"/>
          </a:xfrm>
          <a:prstGeom prst="rect">
            <a:avLst/>
          </a:prstGeom>
          <a:noFill/>
          <a:ln/>
        </p:spPr>
        <p:txBody>
          <a:bodyPr wrap="square" rtlCol="0" anchor="ctr"/>
          <a:lstStyle/>
          <a:p>
            <a:pPr indent="0" marL="0">
              <a:lnSpc>
                <a:spcPct val="130000"/>
              </a:lnSpc>
              <a:buNone/>
            </a:pPr>
            <a:r>
              <a:rPr lang="en-US" sz="1300" dirty="0">
                <a:solidFill>
                  <a:srgbClr val="E8E2F5"/>
                </a:solidFill>
                <a:latin typeface="Calibri" pitchFamily="34" charset="0"/>
                <a:ea typeface="Calibri" pitchFamily="34" charset="-122"/>
                <a:cs typeface="Calibri" pitchFamily="34" charset="-120"/>
              </a:rPr>
              <a:t>Relational tables  ·  Primary &amp; foreign keys  ·  Normalization  ·  SQL queries  ·  Transactions  ·  Data integrity constraints</a:t>
            </a:r>
            <a:endParaRPr lang="en-US" sz="1300" dirty="0"/>
          </a:p>
        </p:txBody>
      </p:sp>
      <p:sp>
        <p:nvSpPr>
          <p:cNvPr id="55" name="Text 4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6E6580"/>
                </a:solidFill>
                <a:latin typeface="Calibri" pitchFamily="34" charset="0"/>
                <a:ea typeface="Calibri" pitchFamily="34" charset="-122"/>
                <a:cs typeface="Calibri" pitchFamily="34" charset="-120"/>
              </a:rPr>
              <a:t>5</a:t>
            </a:r>
            <a:endParaRPr lang="en-US" sz="1000" dirty="0"/>
          </a:p>
        </p:txBody>
      </p:sp>
      <p:sp>
        <p:nvSpPr>
          <p:cNvPr id="56" name="Text 48"/>
          <p:cNvSpPr/>
          <p:nvPr/>
        </p:nvSpPr>
        <p:spPr>
          <a:xfrm>
            <a:off x="457200" y="6400800"/>
            <a:ext cx="7315200" cy="274320"/>
          </a:xfrm>
          <a:prstGeom prst="rect">
            <a:avLst/>
          </a:prstGeom>
          <a:noFill/>
          <a:ln/>
        </p:spPr>
        <p:txBody>
          <a:bodyPr wrap="square" rtlCol="0" anchor="ctr"/>
          <a:lstStyle/>
          <a:p>
            <a:pPr algn="l" indent="0" marL="0">
              <a:buNone/>
            </a:pPr>
            <a:r>
              <a:rPr lang="en-US" sz="900" dirty="0">
                <a:solidFill>
                  <a:srgbClr val="B9AFCF"/>
                </a:solidFill>
                <a:latin typeface="Calibri" pitchFamily="34" charset="0"/>
                <a:ea typeface="Calibri" pitchFamily="34" charset="-122"/>
                <a:cs typeface="Calibri" pitchFamily="34" charset="-120"/>
              </a:rPr>
              <a:t>Media &amp; Entertainment Subscriber Self-Service App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035"/>
        </a:solidFill>
      </p:bgPr>
    </p:bg>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6C2BD9">
              <a:alpha val="20000"/>
            </a:srgbClr>
          </a:solidFill>
          <a:ln/>
        </p:spPr>
      </p:sp>
      <p:sp>
        <p:nvSpPr>
          <p:cNvPr id="3" name="Shape 1"/>
          <p:cNvSpPr/>
          <p:nvPr/>
        </p:nvSpPr>
        <p:spPr>
          <a:xfrm>
            <a:off x="9601200" y="4389120"/>
            <a:ext cx="4389120" cy="4389120"/>
          </a:xfrm>
          <a:prstGeom prst="ellipse">
            <a:avLst/>
          </a:prstGeom>
          <a:solidFill>
            <a:srgbClr val="FF3D68">
              <a:alpha val="16000"/>
            </a:srgbClr>
          </a:solidFill>
          <a:ln/>
        </p:spPr>
      </p:sp>
      <p:sp>
        <p:nvSpPr>
          <p:cNvPr id="4" name="Text 2"/>
          <p:cNvSpPr/>
          <p:nvPr/>
        </p:nvSpPr>
        <p:spPr>
          <a:xfrm>
            <a:off x="640080" y="54864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640080" y="1188720"/>
            <a:ext cx="9601200" cy="457200"/>
          </a:xfrm>
          <a:prstGeom prst="rect">
            <a:avLst/>
          </a:prstGeom>
          <a:noFill/>
          <a:ln/>
        </p:spPr>
        <p:txBody>
          <a:bodyPr wrap="square" rtlCol="0" anchor="ctr"/>
          <a:lstStyle/>
          <a:p>
            <a:pPr indent="0" marL="0">
              <a:buNone/>
            </a:pPr>
            <a:r>
              <a:rPr lang="en-US" sz="1500" i="1" dirty="0">
                <a:solidFill>
                  <a:srgbClr val="D9CFF0"/>
                </a:solidFill>
                <a:latin typeface="Calibri" pitchFamily="34" charset="0"/>
                <a:ea typeface="Calibri" pitchFamily="34" charset="-122"/>
                <a:cs typeface="Calibri" pitchFamily="34" charset="-120"/>
              </a:rPr>
              <a:t>A single, database-driven mobile app that puts subscribers in control.</a:t>
            </a:r>
            <a:endParaRPr lang="en-US" sz="1500" dirty="0"/>
          </a:p>
        </p:txBody>
      </p:sp>
      <p:sp>
        <p:nvSpPr>
          <p:cNvPr id="6" name="Shape 4"/>
          <p:cNvSpPr/>
          <p:nvPr/>
        </p:nvSpPr>
        <p:spPr>
          <a:xfrm>
            <a:off x="640080" y="1965960"/>
            <a:ext cx="10881360" cy="914400"/>
          </a:xfrm>
          <a:prstGeom prst="roundRect">
            <a:avLst>
              <a:gd name="adj" fmla="val 10000"/>
            </a:avLst>
          </a:prstGeom>
          <a:solidFill>
            <a:srgbClr val="FFFFFF">
              <a:alpha val="8000"/>
            </a:srgbClr>
          </a:solidFill>
          <a:ln w="12700">
            <a:solidFill>
              <a:srgbClr val="6C2BD9"/>
            </a:solidFill>
            <a:prstDash val="solid"/>
          </a:ln>
        </p:spPr>
      </p:sp>
      <p:sp>
        <p:nvSpPr>
          <p:cNvPr id="7" name="Shape 5"/>
          <p:cNvSpPr/>
          <p:nvPr/>
        </p:nvSpPr>
        <p:spPr>
          <a:xfrm>
            <a:off x="868680" y="2121408"/>
            <a:ext cx="594360" cy="594360"/>
          </a:xfrm>
          <a:prstGeom prst="ellipse">
            <a:avLst/>
          </a:prstGeom>
          <a:solidFill>
            <a:srgbClr val="FF3D68"/>
          </a:solidFill>
          <a:ln/>
        </p:spPr>
      </p:sp>
      <p:pic>
        <p:nvPicPr>
          <p:cNvPr id="8" name="Image 0" descr="icons/thumbsup.png">    </p:cNvPr>
          <p:cNvPicPr>
            <a:picLocks noChangeAspect="1"/>
          </p:cNvPicPr>
          <p:nvPr/>
        </p:nvPicPr>
        <p:blipFill>
          <a:blip r:embed="rId1"/>
          <a:stretch>
            <a:fillRect/>
          </a:stretch>
        </p:blipFill>
        <p:spPr>
          <a:xfrm>
            <a:off x="951890" y="2204618"/>
            <a:ext cx="427939" cy="427939"/>
          </a:xfrm>
          <a:prstGeom prst="rect">
            <a:avLst/>
          </a:prstGeom>
        </p:spPr>
      </p:pic>
      <p:sp>
        <p:nvSpPr>
          <p:cNvPr id="9" name="Text 6"/>
          <p:cNvSpPr/>
          <p:nvPr/>
        </p:nvSpPr>
        <p:spPr>
          <a:xfrm>
            <a:off x="1691640" y="1965960"/>
            <a:ext cx="9601200" cy="9144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Reduces dependency on customer support for routine tasks</a:t>
            </a:r>
            <a:endParaRPr lang="en-US" sz="1500" dirty="0"/>
          </a:p>
        </p:txBody>
      </p:sp>
      <p:sp>
        <p:nvSpPr>
          <p:cNvPr id="10" name="Shape 7"/>
          <p:cNvSpPr/>
          <p:nvPr/>
        </p:nvSpPr>
        <p:spPr>
          <a:xfrm>
            <a:off x="640080" y="3017520"/>
            <a:ext cx="10881360" cy="914400"/>
          </a:xfrm>
          <a:prstGeom prst="roundRect">
            <a:avLst>
              <a:gd name="adj" fmla="val 10000"/>
            </a:avLst>
          </a:prstGeom>
          <a:solidFill>
            <a:srgbClr val="FFFFFF">
              <a:alpha val="8000"/>
            </a:srgbClr>
          </a:solidFill>
          <a:ln w="12700">
            <a:solidFill>
              <a:srgbClr val="6C2BD9"/>
            </a:solidFill>
            <a:prstDash val="solid"/>
          </a:ln>
        </p:spPr>
      </p:sp>
      <p:sp>
        <p:nvSpPr>
          <p:cNvPr id="11" name="Shape 8"/>
          <p:cNvSpPr/>
          <p:nvPr/>
        </p:nvSpPr>
        <p:spPr>
          <a:xfrm>
            <a:off x="868680" y="3172968"/>
            <a:ext cx="594360" cy="594360"/>
          </a:xfrm>
          <a:prstGeom prst="ellipse">
            <a:avLst/>
          </a:prstGeom>
          <a:solidFill>
            <a:srgbClr val="FF3D68"/>
          </a:solidFill>
          <a:ln/>
        </p:spPr>
      </p:sp>
      <p:pic>
        <p:nvPicPr>
          <p:cNvPr id="12" name="Image 1" descr="icons/bolt.png">    </p:cNvPr>
          <p:cNvPicPr>
            <a:picLocks noChangeAspect="1"/>
          </p:cNvPicPr>
          <p:nvPr/>
        </p:nvPicPr>
        <p:blipFill>
          <a:blip r:embed="rId2"/>
          <a:stretch>
            <a:fillRect/>
          </a:stretch>
        </p:blipFill>
        <p:spPr>
          <a:xfrm>
            <a:off x="951890" y="3256178"/>
            <a:ext cx="427939" cy="427939"/>
          </a:xfrm>
          <a:prstGeom prst="rect">
            <a:avLst/>
          </a:prstGeom>
        </p:spPr>
      </p:pic>
      <p:sp>
        <p:nvSpPr>
          <p:cNvPr id="13" name="Text 9"/>
          <p:cNvSpPr/>
          <p:nvPr/>
        </p:nvSpPr>
        <p:spPr>
          <a:xfrm>
            <a:off x="1691640" y="3017520"/>
            <a:ext cx="9601200" cy="9144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Improves service efficiency through instant self-service access</a:t>
            </a:r>
            <a:endParaRPr lang="en-US" sz="1500" dirty="0"/>
          </a:p>
        </p:txBody>
      </p:sp>
      <p:sp>
        <p:nvSpPr>
          <p:cNvPr id="14" name="Shape 10"/>
          <p:cNvSpPr/>
          <p:nvPr/>
        </p:nvSpPr>
        <p:spPr>
          <a:xfrm>
            <a:off x="640080" y="4069080"/>
            <a:ext cx="10881360" cy="914400"/>
          </a:xfrm>
          <a:prstGeom prst="roundRect">
            <a:avLst>
              <a:gd name="adj" fmla="val 10000"/>
            </a:avLst>
          </a:prstGeom>
          <a:solidFill>
            <a:srgbClr val="FFFFFF">
              <a:alpha val="8000"/>
            </a:srgbClr>
          </a:solidFill>
          <a:ln w="12700">
            <a:solidFill>
              <a:srgbClr val="6C2BD9"/>
            </a:solidFill>
            <a:prstDash val="solid"/>
          </a:ln>
        </p:spPr>
      </p:sp>
      <p:sp>
        <p:nvSpPr>
          <p:cNvPr id="15" name="Shape 11"/>
          <p:cNvSpPr/>
          <p:nvPr/>
        </p:nvSpPr>
        <p:spPr>
          <a:xfrm>
            <a:off x="868680" y="4224528"/>
            <a:ext cx="594360" cy="594360"/>
          </a:xfrm>
          <a:prstGeom prst="ellipse">
            <a:avLst/>
          </a:prstGeom>
          <a:solidFill>
            <a:srgbClr val="FF3D68"/>
          </a:solidFill>
          <a:ln/>
        </p:spPr>
      </p:sp>
      <p:pic>
        <p:nvPicPr>
          <p:cNvPr id="16" name="Image 2" descr="icons/heart.png">    </p:cNvPr>
          <p:cNvPicPr>
            <a:picLocks noChangeAspect="1"/>
          </p:cNvPicPr>
          <p:nvPr/>
        </p:nvPicPr>
        <p:blipFill>
          <a:blip r:embed="rId3"/>
          <a:stretch>
            <a:fillRect/>
          </a:stretch>
        </p:blipFill>
        <p:spPr>
          <a:xfrm>
            <a:off x="951890" y="4307738"/>
            <a:ext cx="427939" cy="427939"/>
          </a:xfrm>
          <a:prstGeom prst="rect">
            <a:avLst/>
          </a:prstGeom>
        </p:spPr>
      </p:pic>
      <p:sp>
        <p:nvSpPr>
          <p:cNvPr id="17" name="Text 12"/>
          <p:cNvSpPr/>
          <p:nvPr/>
        </p:nvSpPr>
        <p:spPr>
          <a:xfrm>
            <a:off x="1691640" y="4069080"/>
            <a:ext cx="9601200" cy="9144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Delivers personalized recommendations &amp; timely notifications</a:t>
            </a:r>
            <a:endParaRPr lang="en-US" sz="1500" dirty="0"/>
          </a:p>
        </p:txBody>
      </p:sp>
      <p:sp>
        <p:nvSpPr>
          <p:cNvPr id="18" name="Shape 13"/>
          <p:cNvSpPr/>
          <p:nvPr/>
        </p:nvSpPr>
        <p:spPr>
          <a:xfrm>
            <a:off x="640080" y="5120640"/>
            <a:ext cx="10881360" cy="914400"/>
          </a:xfrm>
          <a:prstGeom prst="roundRect">
            <a:avLst>
              <a:gd name="adj" fmla="val 10000"/>
            </a:avLst>
          </a:prstGeom>
          <a:solidFill>
            <a:srgbClr val="FFFFFF">
              <a:alpha val="8000"/>
            </a:srgbClr>
          </a:solidFill>
          <a:ln w="12700">
            <a:solidFill>
              <a:srgbClr val="6C2BD9"/>
            </a:solidFill>
            <a:prstDash val="solid"/>
          </a:ln>
        </p:spPr>
      </p:sp>
      <p:sp>
        <p:nvSpPr>
          <p:cNvPr id="19" name="Shape 14"/>
          <p:cNvSpPr/>
          <p:nvPr/>
        </p:nvSpPr>
        <p:spPr>
          <a:xfrm>
            <a:off x="868680" y="5276088"/>
            <a:ext cx="594360" cy="594360"/>
          </a:xfrm>
          <a:prstGeom prst="ellipse">
            <a:avLst/>
          </a:prstGeom>
          <a:solidFill>
            <a:srgbClr val="FF3D68"/>
          </a:solidFill>
          <a:ln/>
        </p:spPr>
      </p:sp>
      <p:pic>
        <p:nvPicPr>
          <p:cNvPr id="20" name="Image 3" descr="icons/shield.png">    </p:cNvPr>
          <p:cNvPicPr>
            <a:picLocks noChangeAspect="1"/>
          </p:cNvPicPr>
          <p:nvPr/>
        </p:nvPicPr>
        <p:blipFill>
          <a:blip r:embed="rId4"/>
          <a:stretch>
            <a:fillRect/>
          </a:stretch>
        </p:blipFill>
        <p:spPr>
          <a:xfrm>
            <a:off x="951890" y="5359298"/>
            <a:ext cx="427939" cy="427939"/>
          </a:xfrm>
          <a:prstGeom prst="rect">
            <a:avLst/>
          </a:prstGeom>
        </p:spPr>
      </p:pic>
      <p:sp>
        <p:nvSpPr>
          <p:cNvPr id="21" name="Text 15"/>
          <p:cNvSpPr/>
          <p:nvPr/>
        </p:nvSpPr>
        <p:spPr>
          <a:xfrm>
            <a:off x="1691640" y="5120640"/>
            <a:ext cx="9601200" cy="9144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Ensures reliable, secure data via sound database design</a:t>
            </a:r>
            <a:endParaRPr lang="en-US" sz="1500" dirty="0"/>
          </a:p>
        </p:txBody>
      </p:sp>
      <p:sp>
        <p:nvSpPr>
          <p:cNvPr id="22" name="Text 1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CFC6E8"/>
                </a:solidFill>
                <a:latin typeface="Calibri" pitchFamily="34" charset="0"/>
                <a:ea typeface="Calibri" pitchFamily="34" charset="-122"/>
                <a:cs typeface="Calibri" pitchFamily="34" charset="-120"/>
              </a:rPr>
              <a:t>6</a:t>
            </a:r>
            <a:endParaRPr lang="en-US" sz="1000" dirty="0"/>
          </a:p>
        </p:txBody>
      </p:sp>
      <p:sp>
        <p:nvSpPr>
          <p:cNvPr id="23" name="Text 17"/>
          <p:cNvSpPr/>
          <p:nvPr/>
        </p:nvSpPr>
        <p:spPr>
          <a:xfrm>
            <a:off x="457200" y="6400800"/>
            <a:ext cx="7315200" cy="274320"/>
          </a:xfrm>
          <a:prstGeom prst="rect">
            <a:avLst/>
          </a:prstGeom>
          <a:noFill/>
          <a:ln/>
        </p:spPr>
        <p:txBody>
          <a:bodyPr wrap="square" rtlCol="0" anchor="ctr"/>
          <a:lstStyle/>
          <a:p>
            <a:pPr algn="l" indent="0" marL="0">
              <a:buNone/>
            </a:pPr>
            <a:r>
              <a:rPr lang="en-US" sz="900" dirty="0">
                <a:solidFill>
                  <a:srgbClr val="9A8DC2"/>
                </a:solidFill>
                <a:latin typeface="Calibri" pitchFamily="34" charset="0"/>
                <a:ea typeface="Calibri" pitchFamily="34" charset="-122"/>
                <a:cs typeface="Calibri" pitchFamily="34" charset="-120"/>
              </a:rPr>
              <a:t>Media &amp; Entertainment Subscriber Self-Service App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035"/>
        </a:solidFill>
      </p:bgPr>
    </p:bg>
    <p:spTree>
      <p:nvGrpSpPr>
        <p:cNvPr id="1" name=""/>
        <p:cNvGrpSpPr/>
        <p:nvPr/>
      </p:nvGrpSpPr>
      <p:grpSpPr>
        <a:xfrm>
          <a:off x="0" y="0"/>
          <a:ext cx="0" cy="0"/>
          <a:chOff x="0" y="0"/>
          <a:chExt cx="0" cy="0"/>
        </a:xfrm>
      </p:grpSpPr>
      <p:sp>
        <p:nvSpPr>
          <p:cNvPr id="2" name="Shape 0"/>
          <p:cNvSpPr/>
          <p:nvPr/>
        </p:nvSpPr>
        <p:spPr>
          <a:xfrm>
            <a:off x="8778240" y="-1645920"/>
            <a:ext cx="5303520" cy="5303520"/>
          </a:xfrm>
          <a:prstGeom prst="ellipse">
            <a:avLst/>
          </a:prstGeom>
          <a:solidFill>
            <a:srgbClr val="6C2BD9">
              <a:alpha val="22000"/>
            </a:srgbClr>
          </a:solidFill>
          <a:ln/>
        </p:spPr>
      </p:sp>
      <p:sp>
        <p:nvSpPr>
          <p:cNvPr id="3" name="Shape 1"/>
          <p:cNvSpPr/>
          <p:nvPr/>
        </p:nvSpPr>
        <p:spPr>
          <a:xfrm>
            <a:off x="-1920240" y="4023360"/>
            <a:ext cx="4572000" cy="4572000"/>
          </a:xfrm>
          <a:prstGeom prst="ellipse">
            <a:avLst/>
          </a:prstGeom>
          <a:solidFill>
            <a:srgbClr val="FF3D68">
              <a:alpha val="18000"/>
            </a:srgbClr>
          </a:solidFill>
          <a:ln/>
        </p:spPr>
      </p:sp>
      <p:sp>
        <p:nvSpPr>
          <p:cNvPr id="4" name="Shape 2"/>
          <p:cNvSpPr/>
          <p:nvPr/>
        </p:nvSpPr>
        <p:spPr>
          <a:xfrm>
            <a:off x="5591556" y="1965960"/>
            <a:ext cx="1005840" cy="1005840"/>
          </a:xfrm>
          <a:prstGeom prst="ellipse">
            <a:avLst/>
          </a:prstGeom>
          <a:solidFill>
            <a:srgbClr val="6C2BD9"/>
          </a:solidFill>
          <a:ln/>
        </p:spPr>
      </p:sp>
      <p:pic>
        <p:nvPicPr>
          <p:cNvPr id="5" name="Image 0" descr="icons/film.png">    </p:cNvPr>
          <p:cNvPicPr>
            <a:picLocks noChangeAspect="1"/>
          </p:cNvPicPr>
          <p:nvPr/>
        </p:nvPicPr>
        <p:blipFill>
          <a:blip r:embed="rId1"/>
          <a:stretch>
            <a:fillRect/>
          </a:stretch>
        </p:blipFill>
        <p:spPr>
          <a:xfrm>
            <a:off x="5742432" y="2116836"/>
            <a:ext cx="704088" cy="704088"/>
          </a:xfrm>
          <a:prstGeom prst="rect">
            <a:avLst/>
          </a:prstGeom>
        </p:spPr>
      </p:pic>
      <p:sp>
        <p:nvSpPr>
          <p:cNvPr id="6" name="Text 3"/>
          <p:cNvSpPr/>
          <p:nvPr/>
        </p:nvSpPr>
        <p:spPr>
          <a:xfrm>
            <a:off x="0" y="3200400"/>
            <a:ext cx="12188952" cy="914400"/>
          </a:xfrm>
          <a:prstGeom prst="rect">
            <a:avLst/>
          </a:prstGeom>
          <a:noFill/>
          <a:ln/>
        </p:spPr>
        <p:txBody>
          <a:bodyPr wrap="square"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4"/>
          <p:cNvSpPr/>
          <p:nvPr/>
        </p:nvSpPr>
        <p:spPr>
          <a:xfrm>
            <a:off x="0" y="4023360"/>
            <a:ext cx="12188952" cy="457200"/>
          </a:xfrm>
          <a:prstGeom prst="rect">
            <a:avLst/>
          </a:prstGeom>
          <a:noFill/>
          <a:ln/>
        </p:spPr>
        <p:txBody>
          <a:bodyPr wrap="square" rtlCol="0" anchor="ctr"/>
          <a:lstStyle/>
          <a:p>
            <a:pPr algn="ctr" indent="0" marL="0">
              <a:buNone/>
            </a:pPr>
            <a:r>
              <a:rPr lang="en-US" sz="1500" dirty="0">
                <a:solidFill>
                  <a:srgbClr val="C9B8F5"/>
                </a:solidFill>
                <a:latin typeface="Calibri" pitchFamily="34" charset="0"/>
                <a:ea typeface="Calibri" pitchFamily="34" charset="-122"/>
                <a:cs typeface="Calibri" pitchFamily="34" charset="-120"/>
              </a:rPr>
              <a:t>Media &amp; Entertainment Mobile App for Subscriber Self-Service</a:t>
            </a:r>
            <a:endParaRPr lang="en-US" sz="1500" dirty="0"/>
          </a:p>
        </p:txBody>
      </p:sp>
      <p:sp>
        <p:nvSpPr>
          <p:cNvPr id="8" name="Text 5"/>
          <p:cNvSpPr/>
          <p:nvPr/>
        </p:nvSpPr>
        <p:spPr>
          <a:xfrm>
            <a:off x="0" y="4572000"/>
            <a:ext cx="12188952" cy="365760"/>
          </a:xfrm>
          <a:prstGeom prst="rect">
            <a:avLst/>
          </a:prstGeom>
          <a:noFill/>
          <a:ln/>
        </p:spPr>
        <p:txBody>
          <a:bodyPr wrap="square" rtlCol="0" anchor="ctr"/>
          <a:lstStyle/>
          <a:p>
            <a:pPr algn="ctr" indent="0" marL="0">
              <a:buNone/>
            </a:pPr>
            <a:r>
              <a:rPr lang="en-US" sz="1200" dirty="0">
                <a:solidFill>
                  <a:srgbClr val="9A8DC2"/>
                </a:solidFill>
                <a:latin typeface="Calibri" pitchFamily="34" charset="0"/>
                <a:ea typeface="Calibri" pitchFamily="34" charset="-122"/>
                <a:cs typeface="Calibri" pitchFamily="34" charset="-120"/>
              </a:rPr>
              <a:t>Satwika Gandhe  ·  V. Siri Chandana        Section 10  ·  25CS1302E</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800" b="1"/>
            </a:pPr>
            <a:r>
              <a:t>Problem Statement &amp; Unique Solution</a:t>
            </a:r>
          </a:p>
        </p:txBody>
      </p:sp>
      <p:sp>
        <p:nvSpPr>
          <p:cNvPr id="3" name="TextBox 2"/>
          <p:cNvSpPr txBox="1"/>
          <p:nvPr/>
        </p:nvSpPr>
        <p:spPr>
          <a:xfrm>
            <a:off x="685800" y="1280160"/>
            <a:ext cx="5303520" cy="4480560"/>
          </a:xfrm>
          <a:prstGeom prst="rect">
            <a:avLst/>
          </a:prstGeom>
          <a:noFill/>
        </p:spPr>
        <p:txBody>
          <a:bodyPr wrap="square">
            <a:spAutoFit/>
          </a:bodyPr>
          <a:lstStyle/>
          <a:p>
            <a:pPr>
              <a:defRPr sz="2000" b="1"/>
            </a:pPr>
            <a:r>
              <a:t>PROBLEM STATEMENT</a:t>
            </a:r>
          </a:p>
          <a:p>
            <a:pPr>
              <a:spcAft>
                <a:spcPts val="1000"/>
              </a:spcAft>
              <a:defRPr sz="1500"/>
            </a:pPr>
            <a:r>
              <a:t>• Subscribers often depend on customer support for checking plans, renewing services, viewing payments, updating profiles, and finding suitable content.</a:t>
            </a:r>
          </a:p>
          <a:p>
            <a:pPr>
              <a:spcAft>
                <a:spcPts val="1000"/>
              </a:spcAft>
              <a:defRPr sz="1500"/>
            </a:pPr>
            <a:r>
              <a:t>• Subscriber information, subscriptions, payments, viewing history, and preferences can be difficult to manage when data is scattered.</a:t>
            </a:r>
          </a:p>
          <a:p>
            <a:pPr>
              <a:spcAft>
                <a:spcPts val="1000"/>
              </a:spcAft>
              <a:defRPr sz="1500"/>
            </a:pPr>
            <a:r>
              <a:t>• Users may miss payment deadlines, subscription expiry dates, or relevant new content.</a:t>
            </a:r>
          </a:p>
        </p:txBody>
      </p:sp>
      <p:sp>
        <p:nvSpPr>
          <p:cNvPr id="4" name="TextBox 3"/>
          <p:cNvSpPr txBox="1"/>
          <p:nvPr/>
        </p:nvSpPr>
        <p:spPr>
          <a:xfrm>
            <a:off x="6172200" y="1280160"/>
            <a:ext cx="5303520" cy="4480560"/>
          </a:xfrm>
          <a:prstGeom prst="rect">
            <a:avLst/>
          </a:prstGeom>
          <a:noFill/>
        </p:spPr>
        <p:txBody>
          <a:bodyPr wrap="square">
            <a:spAutoFit/>
          </a:bodyPr>
          <a:lstStyle/>
          <a:p>
            <a:pPr>
              <a:defRPr sz="2000" b="1"/>
            </a:pPr>
            <a:r>
              <a:t>UNIQUE SOLUTION</a:t>
            </a:r>
          </a:p>
          <a:p>
            <a:pPr>
              <a:spcAft>
                <a:spcPts val="900"/>
              </a:spcAft>
              <a:defRPr sz="1500"/>
            </a:pPr>
            <a:r>
              <a:t>• A single smart mobile application where subscribers can manage profiles, subscriptions, payments, and entertainment content independently.</a:t>
            </a:r>
          </a:p>
          <a:p>
            <a:pPr>
              <a:spcAft>
                <a:spcPts val="900"/>
              </a:spcAft>
              <a:defRPr sz="1500"/>
            </a:pPr>
            <a:r>
              <a:t>• Uses viewing history and preferences stored in the database to provide personalized content and subscription-plan suggestions.</a:t>
            </a:r>
          </a:p>
          <a:p>
            <a:pPr>
              <a:spcAft>
                <a:spcPts val="900"/>
              </a:spcAft>
              <a:defRPr sz="1500"/>
            </a:pPr>
            <a:r>
              <a:t>• Provides automatic alerts for subscription expiry, payments, and new content.</a:t>
            </a:r>
          </a:p>
          <a:p>
            <a:pPr>
              <a:spcAft>
                <a:spcPts val="900"/>
              </a:spcAft>
              <a:defRPr sz="1500"/>
            </a:pPr>
            <a:r>
              <a:t>• Uses primary and foreign keys, normalization, transactions, and integrity constraints for reliable data management.</a:t>
            </a:r>
          </a:p>
        </p:txBody>
      </p:sp>
      <p:sp>
        <p:nvSpPr>
          <p:cNvPr id="5" name="TextBox 4"/>
          <p:cNvSpPr txBox="1"/>
          <p:nvPr/>
        </p:nvSpPr>
        <p:spPr>
          <a:xfrm>
            <a:off x="685800" y="6446520"/>
            <a:ext cx="10789920" cy="274320"/>
          </a:xfrm>
          <a:prstGeom prst="rect">
            <a:avLst/>
          </a:prstGeom>
          <a:noFill/>
        </p:spPr>
        <p:txBody>
          <a:bodyPr wrap="none">
            <a:spAutoFit/>
          </a:bodyPr>
          <a:lstStyle/>
          <a:p>
            <a:pPr>
              <a:defRPr sz="900"/>
            </a:pPr>
            <a:r>
              <a:t>Media &amp; Entertainment Subscriber Self-Service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2026-08-19T09:07:24Z</dcterms:created>
  <dcterms:modified xsi:type="dcterms:W3CDTF">2026-08-19T09:07:24Z</dcterms:modified>
</cp:coreProperties>
</file>